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4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7" r:id="rId9"/>
    <p:sldId id="270" r:id="rId10"/>
    <p:sldId id="271" r:id="rId11"/>
    <p:sldId id="268" r:id="rId12"/>
    <p:sldId id="265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3D6349-16DA-E9C9-1E14-F2DD5AE55B7E}" v="550" dt="2026-07-24T09:26:23.401"/>
    <p1510:client id="{C84D97D0-DAD0-48D2-AC80-BA94E408AF36}" v="50" dt="2026-07-24T00:08:25.5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1F812-8774-447B-9C73-161536110128}" type="datetimeFigureOut"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5F6E32-6681-4576-B84A-5497FEB5E7A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4BC21-ED26-49E3-9E67-FD65161FE21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124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300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37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96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605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783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935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395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42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109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365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52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840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D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28600" y="0"/>
            <a:ext cx="50292" cy="6858000"/>
          </a:xfrm>
          <a:prstGeom prst="rect">
            <a:avLst/>
          </a:prstGeom>
          <a:solidFill>
            <a:srgbClr val="A01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Parallelogram 24"/>
          <p:cNvSpPr/>
          <p:nvPr/>
        </p:nvSpPr>
        <p:spPr>
          <a:xfrm>
            <a:off x="8092440" y="9144"/>
            <a:ext cx="4069080" cy="1783080"/>
          </a:xfrm>
          <a:prstGeom prst="parallelogram">
            <a:avLst/>
          </a:prstGeom>
          <a:solidFill>
            <a:srgbClr val="5D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Parallelogram 25"/>
          <p:cNvSpPr/>
          <p:nvPr/>
        </p:nvSpPr>
        <p:spPr>
          <a:xfrm>
            <a:off x="8732520" y="5431536"/>
            <a:ext cx="3438144" cy="1371600"/>
          </a:xfrm>
          <a:prstGeom prst="parallelogram">
            <a:avLst/>
          </a:prstGeom>
          <a:solidFill>
            <a:srgbClr val="1A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Parallelogram 26"/>
          <p:cNvSpPr/>
          <p:nvPr/>
        </p:nvSpPr>
        <p:spPr>
          <a:xfrm>
            <a:off x="7086600" y="4389120"/>
            <a:ext cx="2240280" cy="713232"/>
          </a:xfrm>
          <a:prstGeom prst="parallelogram">
            <a:avLst/>
          </a:prstGeom>
          <a:solidFill>
            <a:srgbClr val="A01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987552"/>
            <a:ext cx="5577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>
                <a:latin typeface="Aptos"/>
              </a:defRPr>
            </a:pPr>
            <a:r>
              <a:rPr lang="en-US" sz="5800" b="1">
                <a:solidFill>
                  <a:srgbClr val="FFFFFF"/>
                </a:solidFill>
                <a:latin typeface="Aptos Display"/>
              </a:rPr>
              <a:t>ATLAS</a:t>
            </a:r>
            <a:endParaRPr sz="5800" b="1">
              <a:solidFill>
                <a:srgbClr val="1AB7C3"/>
              </a:solidFill>
              <a:latin typeface="Aptos Displa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8096" y="1847088"/>
            <a:ext cx="6629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 b="0">
                <a:solidFill>
                  <a:srgbClr val="DCE4EC"/>
                </a:solidFill>
                <a:latin typeface="Aptos"/>
              </a:defRPr>
            </a:pPr>
            <a:r>
              <a:rPr sz="1400">
                <a:latin typeface="Aptos"/>
              </a:rPr>
              <a:t>Enterprise AI knowledge platform for secure, source-backed answers</a:t>
            </a:r>
            <a:endParaRPr lang="en-US" sz="1400">
              <a:latin typeface="Apto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68096" y="2331720"/>
            <a:ext cx="2148840" cy="36576"/>
          </a:xfrm>
          <a:prstGeom prst="rect">
            <a:avLst/>
          </a:prstGeom>
          <a:solidFill>
            <a:srgbClr val="1A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768096" y="2651760"/>
            <a:ext cx="66294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rPr lang="en-US" sz="1400">
                <a:latin typeface="Aptos"/>
              </a:rPr>
              <a:t>Management-ready knowledge intelligence </a:t>
            </a:r>
            <a:r>
              <a:rPr sz="1400">
                <a:latin typeface="Aptos"/>
              </a:rPr>
              <a:t>for financial institutions </a:t>
            </a:r>
            <a:r>
              <a:rPr lang="en-US" sz="1400">
                <a:latin typeface="Aptos"/>
              </a:rPr>
              <a:t>— unifying </a:t>
            </a:r>
            <a:r>
              <a:rPr sz="1400">
                <a:latin typeface="Aptos"/>
              </a:rPr>
              <a:t>compliance, regulatory, policy and operational information </a:t>
            </a:r>
            <a:r>
              <a:rPr lang="en-US" sz="1400">
                <a:latin typeface="Aptos"/>
              </a:rPr>
              <a:t>through </a:t>
            </a:r>
            <a:r>
              <a:rPr sz="1400">
                <a:latin typeface="Aptos"/>
              </a:rPr>
              <a:t>Modular Hybrid RAG</a:t>
            </a:r>
            <a:r>
              <a:rPr lang="en-US" sz="1400">
                <a:latin typeface="Aptos"/>
              </a:rPr>
              <a:t> and </a:t>
            </a:r>
            <a:r>
              <a:rPr sz="1400">
                <a:latin typeface="Aptos"/>
              </a:rPr>
              <a:t>permission-aware retrieval.</a:t>
            </a:r>
            <a:endParaRPr lang="en-US" sz="1400"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8096" y="5989320"/>
            <a:ext cx="74066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0">
                <a:solidFill>
                  <a:srgbClr val="B8C9DB"/>
                </a:solidFill>
                <a:latin typeface="Aptos"/>
              </a:defRPr>
            </a:pPr>
            <a:r>
              <a:rPr sz="1400">
                <a:latin typeface="Aptos"/>
              </a:rPr>
              <a:t>Secure by design  ·  </a:t>
            </a:r>
            <a:r>
              <a:rPr lang="en-US" sz="1400">
                <a:latin typeface="Aptos"/>
              </a:rPr>
              <a:t>Source-backed responses</a:t>
            </a:r>
            <a:r>
              <a:rPr sz="1400">
                <a:latin typeface="Aptos"/>
              </a:rPr>
              <a:t>  ·  Enterprise scale</a:t>
            </a:r>
            <a:endParaRPr lang="en-US" sz="1400"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21240" y="6446520"/>
            <a:ext cx="16916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0">
                <a:solidFill>
                  <a:srgbClr val="A8B2BF"/>
                </a:solidFill>
                <a:latin typeface="Aptos"/>
              </a:defRPr>
            </a:pPr>
            <a:r>
              <a:rPr lang="en-US" sz="1400">
                <a:solidFill>
                  <a:srgbClr val="DCEBF0"/>
                </a:solidFill>
                <a:latin typeface="Aptos"/>
              </a:rPr>
              <a:t>ATLAS  |  01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96528" y="2075688"/>
            <a:ext cx="859536" cy="676656"/>
          </a:xfrm>
          <a:prstGeom prst="line">
            <a:avLst/>
          </a:prstGeom>
          <a:ln w="12700">
            <a:solidFill>
              <a:srgbClr val="4A7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656064" y="2212848"/>
            <a:ext cx="786384" cy="539496"/>
          </a:xfrm>
          <a:prstGeom prst="line">
            <a:avLst/>
          </a:prstGeom>
          <a:ln w="12700">
            <a:solidFill>
              <a:srgbClr val="4A7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656064" y="2752344"/>
            <a:ext cx="365760" cy="731520"/>
          </a:xfrm>
          <a:prstGeom prst="line">
            <a:avLst/>
          </a:prstGeom>
          <a:ln w="12700">
            <a:solidFill>
              <a:srgbClr val="4A7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015984" y="3483864"/>
            <a:ext cx="1005840" cy="274320"/>
          </a:xfrm>
          <a:prstGeom prst="line">
            <a:avLst/>
          </a:prstGeom>
          <a:ln w="12700">
            <a:solidFill>
              <a:srgbClr val="4A7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732520" y="2011680"/>
            <a:ext cx="118872" cy="118872"/>
          </a:xfrm>
          <a:prstGeom prst="ellipse">
            <a:avLst/>
          </a:prstGeom>
          <a:solidFill>
            <a:srgbClr val="1A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601200" y="2697480"/>
            <a:ext cx="118872" cy="118872"/>
          </a:xfrm>
          <a:prstGeom prst="ellipse">
            <a:avLst/>
          </a:prstGeom>
          <a:solidFill>
            <a:srgbClr val="2D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378440" y="2148840"/>
            <a:ext cx="118872" cy="118872"/>
          </a:xfrm>
          <a:prstGeom prst="ellipse">
            <a:avLst/>
          </a:prstGeom>
          <a:solidFill>
            <a:srgbClr val="A01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966960" y="3429000"/>
            <a:ext cx="118872" cy="118872"/>
          </a:xfrm>
          <a:prstGeom prst="ellipse">
            <a:avLst/>
          </a:prstGeom>
          <a:solidFill>
            <a:srgbClr val="1A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961120" y="3703320"/>
            <a:ext cx="118872" cy="118872"/>
          </a:xfrm>
          <a:prstGeom prst="ellipse">
            <a:avLst/>
          </a:prstGeom>
          <a:solidFill>
            <a:srgbClr val="2D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5B29CDF-0281-FDB7-3288-422F26B0B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45786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0040" y="292608"/>
            <a:ext cx="3840480" cy="41148"/>
          </a:xfrm>
          <a:prstGeom prst="rect">
            <a:avLst/>
          </a:prstGeom>
          <a:solidFill>
            <a:srgbClr val="5D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251960" y="292608"/>
            <a:ext cx="1828800" cy="41148"/>
          </a:xfrm>
          <a:prstGeom prst="rect">
            <a:avLst/>
          </a:prstGeom>
          <a:solidFill>
            <a:srgbClr val="8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 i="0">
                <a:solidFill>
                  <a:srgbClr val="5D1144"/>
                </a:solidFill>
                <a:latin typeface="Aptos"/>
              </a:defRPr>
            </a:pPr>
            <a:r>
              <a:rPr sz="819" b="1">
                <a:solidFill>
                  <a:srgbClr val="5D1144"/>
                </a:solidFill>
                <a:latin typeface="Aptos"/>
              </a:rPr>
              <a:t>WHY CHANGE NOW?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 i="0">
                <a:solidFill>
                  <a:srgbClr val="081226"/>
                </a:solidFill>
                <a:latin typeface="Aptos Display"/>
              </a:defRPr>
            </a:pPr>
            <a:r>
              <a:rPr sz="2600" b="1">
                <a:solidFill>
                  <a:srgbClr val="081226"/>
                </a:solidFill>
                <a:latin typeface="Aptos Display"/>
              </a:rPr>
              <a:t>Business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12680" y="6464808"/>
            <a:ext cx="1600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0" i="0">
                <a:solidFill>
                  <a:srgbClr val="7D8591"/>
                </a:solidFill>
                <a:latin typeface="Aptos"/>
              </a:defRPr>
            </a:pPr>
            <a:r>
              <a:rPr lang="en-US" sz="1400">
                <a:latin typeface="Aptos"/>
              </a:rPr>
              <a:t>ATLAS  |  02</a:t>
            </a:r>
            <a:endParaRPr sz="1400"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0352" y="1234440"/>
            <a:ext cx="45720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400" b="1" i="0">
                <a:solidFill>
                  <a:srgbClr val="081226"/>
                </a:solidFill>
                <a:latin typeface="Aptos Display"/>
              </a:defRPr>
            </a:pPr>
            <a:r>
              <a:rPr lang="en-US" sz="1400">
                <a:latin typeface="Aptos"/>
              </a:rPr>
              <a:t>Enterprise knowledge </a:t>
            </a:r>
            <a:r>
              <a:rPr sz="1400" dirty="0">
                <a:latin typeface="Aptos"/>
              </a:rPr>
              <a:t>is </a:t>
            </a:r>
            <a:r>
              <a:rPr lang="en-US" sz="1400">
                <a:latin typeface="Aptos"/>
              </a:rPr>
              <a:t>scattered </a:t>
            </a:r>
            <a:r>
              <a:rPr sz="1400" dirty="0">
                <a:latin typeface="Aptos"/>
              </a:rPr>
              <a:t>across teams</a:t>
            </a:r>
            <a:r>
              <a:rPr lang="en-US" sz="1400">
                <a:latin typeface="Aptos"/>
              </a:rPr>
              <a:t>,</a:t>
            </a:r>
            <a:r>
              <a:rPr sz="1400" dirty="0">
                <a:latin typeface="Aptos"/>
              </a:rPr>
              <a:t> </a:t>
            </a:r>
            <a:r>
              <a:rPr lang="en-US" sz="1400">
                <a:latin typeface="Aptos"/>
              </a:rPr>
              <a:t>systems </a:t>
            </a:r>
            <a:r>
              <a:rPr sz="1400" dirty="0">
                <a:latin typeface="Aptos"/>
              </a:rPr>
              <a:t>and repositories — </a:t>
            </a:r>
            <a:r>
              <a:rPr lang="en-US" sz="1400">
                <a:latin typeface="Aptos"/>
              </a:rPr>
              <a:t>slowing decisions and </a:t>
            </a:r>
            <a:r>
              <a:rPr sz="1400" dirty="0">
                <a:latin typeface="Aptos"/>
              </a:rPr>
              <a:t>creating </a:t>
            </a:r>
            <a:r>
              <a:rPr lang="en-US" sz="1400">
                <a:latin typeface="Aptos"/>
              </a:rPr>
              <a:t>repeated manual effort</a:t>
            </a:r>
            <a:r>
              <a:rPr sz="1400" dirty="0">
                <a:latin typeface="Aptos"/>
              </a:rPr>
              <a:t>.</a:t>
            </a:r>
            <a:endParaRPr lang="en-US" sz="1400"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2542032"/>
            <a:ext cx="1920240" cy="27432"/>
          </a:xfrm>
          <a:prstGeom prst="rect">
            <a:avLst/>
          </a:prstGeom>
          <a:solidFill>
            <a:srgbClr val="A01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66928" y="2816352"/>
            <a:ext cx="429768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50" b="0" i="0">
                <a:solidFill>
                  <a:srgbClr val="5B6574"/>
                </a:solidFill>
                <a:latin typeface="Aptos"/>
              </a:defRPr>
            </a:pPr>
            <a:r>
              <a:rPr lang="en-US" sz="1400">
                <a:latin typeface="Aptos"/>
              </a:rPr>
              <a:t>Employees </a:t>
            </a:r>
            <a:r>
              <a:rPr sz="1400">
                <a:latin typeface="Aptos"/>
              </a:rPr>
              <a:t>and </a:t>
            </a:r>
            <a:r>
              <a:rPr lang="en-US" sz="1400">
                <a:latin typeface="Aptos"/>
              </a:rPr>
              <a:t>control </a:t>
            </a:r>
            <a:r>
              <a:rPr sz="1400">
                <a:latin typeface="Aptos"/>
              </a:rPr>
              <a:t>teams </a:t>
            </a:r>
            <a:r>
              <a:rPr lang="en-US" sz="1400">
                <a:latin typeface="Aptos"/>
              </a:rPr>
              <a:t>spend </a:t>
            </a:r>
            <a:r>
              <a:rPr sz="1400">
                <a:latin typeface="Aptos"/>
              </a:rPr>
              <a:t>time </a:t>
            </a:r>
            <a:r>
              <a:rPr lang="en-US" sz="1400">
                <a:latin typeface="Aptos"/>
              </a:rPr>
              <a:t>locating</a:t>
            </a:r>
            <a:r>
              <a:rPr sz="1400">
                <a:latin typeface="Aptos"/>
              </a:rPr>
              <a:t>, </a:t>
            </a:r>
            <a:r>
              <a:rPr lang="en-US" sz="1400">
                <a:latin typeface="Aptos"/>
              </a:rPr>
              <a:t>verifying </a:t>
            </a:r>
            <a:r>
              <a:rPr sz="1400">
                <a:latin typeface="Aptos"/>
              </a:rPr>
              <a:t>and </a:t>
            </a:r>
            <a:r>
              <a:rPr lang="en-US" sz="1400">
                <a:latin typeface="Aptos"/>
              </a:rPr>
              <a:t>reconciling information instead of acting on it</a:t>
            </a:r>
            <a:r>
              <a:rPr sz="1400">
                <a:latin typeface="Aptos"/>
              </a:rPr>
              <a:t>.</a:t>
            </a:r>
            <a:endParaRPr lang="en-US" sz="1400"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522976" y="1252728"/>
            <a:ext cx="320040" cy="320040"/>
          </a:xfrm>
          <a:prstGeom prst="rect">
            <a:avLst/>
          </a:prstGeom>
          <a:solidFill>
            <a:srgbClr val="5D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rPr sz="1400"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216152"/>
            <a:ext cx="5074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50" b="1" i="0">
                <a:solidFill>
                  <a:srgbClr val="081226"/>
                </a:solidFill>
                <a:latin typeface="Aptos Display"/>
              </a:defRPr>
            </a:pPr>
            <a:r>
              <a:rPr sz="1400">
                <a:latin typeface="Aptos"/>
              </a:rPr>
              <a:t>High operational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472184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80" b="0" i="0">
                <a:solidFill>
                  <a:srgbClr val="1F2530"/>
                </a:solidFill>
                <a:latin typeface="Aptos"/>
              </a:defRPr>
            </a:pPr>
            <a:r>
              <a:rPr sz="1400">
                <a:latin typeface="Aptos"/>
              </a:rPr>
              <a:t>Compliance documentation, employee queries and audits require significant manual effort and dedicated teams.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22976" y="2148840"/>
            <a:ext cx="320040" cy="320040"/>
          </a:xfrm>
          <a:prstGeom prst="rect">
            <a:avLst/>
          </a:prstGeom>
          <a:solidFill>
            <a:srgbClr val="A01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rPr sz="1400"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112264"/>
            <a:ext cx="5074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50" b="1" i="0">
                <a:solidFill>
                  <a:srgbClr val="081226"/>
                </a:solidFill>
                <a:latin typeface="Aptos Display"/>
              </a:defRPr>
            </a:pPr>
            <a:r>
              <a:rPr sz="1400">
                <a:latin typeface="Aptos"/>
              </a:rPr>
              <a:t>Slow information 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368296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80" b="0" i="0">
                <a:solidFill>
                  <a:srgbClr val="1F2530"/>
                </a:solidFill>
                <a:latin typeface="Aptos"/>
              </a:defRPr>
            </a:pPr>
            <a:r>
              <a:rPr sz="1400">
                <a:latin typeface="Aptos"/>
              </a:rPr>
              <a:t>Policies and regulatory documents are spread across repositories, delaying decisions and productivity.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22976" y="3044952"/>
            <a:ext cx="320040" cy="320040"/>
          </a:xfrm>
          <a:prstGeom prst="rect">
            <a:avLst/>
          </a:prstGeom>
          <a:solidFill>
            <a:srgbClr val="1A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rPr sz="1400"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008376"/>
            <a:ext cx="5074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50" b="1" i="0">
                <a:solidFill>
                  <a:srgbClr val="081226"/>
                </a:solidFill>
                <a:latin typeface="Aptos Display"/>
              </a:defRPr>
            </a:pPr>
            <a:r>
              <a:rPr sz="1400">
                <a:latin typeface="Aptos"/>
              </a:rPr>
              <a:t>Increasing regulatory complexity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26440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80" b="0" i="0">
                <a:solidFill>
                  <a:srgbClr val="1F2530"/>
                </a:solidFill>
                <a:latin typeface="Aptos"/>
              </a:defRPr>
            </a:pPr>
            <a:r>
              <a:rPr sz="1400">
                <a:latin typeface="Aptos"/>
              </a:rPr>
              <a:t>GDPR, PSD3, DORA, AML and local banking guidelines continue to evolve across countries.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22976" y="3941063"/>
            <a:ext cx="320040" cy="320040"/>
          </a:xfrm>
          <a:prstGeom prst="rect">
            <a:avLst/>
          </a:prstGeom>
          <a:solidFill>
            <a:srgbClr val="2D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rPr sz="1400"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904487"/>
            <a:ext cx="5074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50" b="1" i="0">
                <a:solidFill>
                  <a:srgbClr val="081226"/>
                </a:solidFill>
                <a:latin typeface="Aptos Display"/>
              </a:defRPr>
            </a:pPr>
            <a:r>
              <a:rPr sz="1400">
                <a:latin typeface="Aptos"/>
              </a:rPr>
              <a:t>Massive document volume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160520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80" b="0" i="0">
                <a:solidFill>
                  <a:srgbClr val="1F2530"/>
                </a:solidFill>
                <a:latin typeface="Aptos"/>
              </a:defRPr>
            </a:pPr>
            <a:r>
              <a:rPr sz="1400">
                <a:latin typeface="Aptos"/>
              </a:rPr>
              <a:t>Millions of policies, circulars, reports, procedures, contracts and customer documents are hard to search accurately.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22976" y="4837176"/>
            <a:ext cx="320040" cy="320040"/>
          </a:xfrm>
          <a:prstGeom prst="rect">
            <a:avLst/>
          </a:prstGeom>
          <a:solidFill>
            <a:srgbClr val="F5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rPr sz="1400"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800600"/>
            <a:ext cx="5074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50" b="1" i="0">
                <a:solidFill>
                  <a:srgbClr val="081226"/>
                </a:solidFill>
                <a:latin typeface="Aptos Display"/>
              </a:defRPr>
            </a:pPr>
            <a:r>
              <a:rPr sz="1400">
                <a:latin typeface="Aptos"/>
              </a:rPr>
              <a:t>Knowledge silos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5056632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80" b="0" i="0">
                <a:solidFill>
                  <a:srgbClr val="1F2530"/>
                </a:solidFill>
                <a:latin typeface="Aptos"/>
              </a:defRPr>
            </a:pPr>
            <a:r>
              <a:rPr sz="1400">
                <a:latin typeface="Aptos"/>
              </a:rPr>
              <a:t>Critical information lives across multiple systems, preventing a complete and consistent answer.</a:t>
            </a:r>
          </a:p>
        </p:txBody>
      </p:sp>
    </p:spTree>
    <p:extLst>
      <p:ext uri="{BB962C8B-B14F-4D97-AF65-F5344CB8AC3E}">
        <p14:creationId xmlns:p14="http://schemas.microsoft.com/office/powerpoint/2010/main" val="4272253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0040" y="292608"/>
            <a:ext cx="3840480" cy="41148"/>
          </a:xfrm>
          <a:prstGeom prst="rect">
            <a:avLst/>
          </a:prstGeom>
          <a:solidFill>
            <a:srgbClr val="5D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251960" y="292608"/>
            <a:ext cx="1828800" cy="41148"/>
          </a:xfrm>
          <a:prstGeom prst="rect">
            <a:avLst/>
          </a:prstGeom>
          <a:solidFill>
            <a:srgbClr val="8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 i="0">
                <a:solidFill>
                  <a:srgbClr val="5D1144"/>
                </a:solidFill>
                <a:latin typeface="Aptos"/>
              </a:defRPr>
            </a:pPr>
            <a:r>
              <a:rPr sz="819" b="1">
                <a:solidFill>
                  <a:srgbClr val="5D1144"/>
                </a:solidFill>
                <a:latin typeface="Aptos"/>
              </a:rPr>
              <a:t>CENTRALIZED AI KNOWLEDGE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7434" y="566928"/>
            <a:ext cx="10515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 i="0">
                <a:solidFill>
                  <a:srgbClr val="081226"/>
                </a:solidFill>
                <a:latin typeface="Aptos Display"/>
              </a:defRPr>
            </a:pPr>
            <a:r>
              <a:rPr lang="en-US" sz="2600" b="1">
                <a:solidFill>
                  <a:srgbClr val="081226"/>
                </a:solidFill>
                <a:latin typeface="Aptos Display"/>
              </a:rPr>
              <a:t>Our Solution – ATLAS</a:t>
            </a:r>
            <a:endParaRPr sz="2600" b="1">
              <a:solidFill>
                <a:srgbClr val="081226"/>
              </a:solidFill>
              <a:latin typeface="Aptos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12680" y="6464808"/>
            <a:ext cx="1600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0" i="0">
                <a:solidFill>
                  <a:srgbClr val="7D8591"/>
                </a:solidFill>
                <a:latin typeface="Aptos"/>
              </a:defRPr>
            </a:pPr>
            <a:r>
              <a:rPr lang="en-US" sz="1400">
                <a:latin typeface="Aptos"/>
              </a:rPr>
              <a:t>ATLAS  |  03</a:t>
            </a:r>
            <a:endParaRPr sz="1400"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1133856"/>
            <a:ext cx="10607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1" i="0">
                <a:solidFill>
                  <a:srgbClr val="081226"/>
                </a:solidFill>
                <a:latin typeface="Aptos Display"/>
              </a:defRPr>
            </a:pPr>
            <a:r>
              <a:rPr sz="1400">
                <a:latin typeface="Aptos"/>
              </a:rPr>
              <a:t>Employees ask questions in natural language and receive contextual, reliable, source-backed answers </a:t>
            </a:r>
            <a:r>
              <a:rPr lang="en-US" sz="1400">
                <a:latin typeface="Aptos"/>
              </a:rPr>
              <a:t>in</a:t>
            </a:r>
            <a:r>
              <a:rPr sz="1400">
                <a:latin typeface="Aptos"/>
              </a:rPr>
              <a:t> seconds.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874519"/>
            <a:ext cx="1097280" cy="1097280"/>
          </a:xfrm>
          <a:prstGeom prst="ellipse">
            <a:avLst/>
          </a:prstGeom>
          <a:solidFill>
            <a:srgbClr val="5D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58952" y="2212848"/>
            <a:ext cx="1133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 Display"/>
              </a:defRPr>
            </a:pPr>
            <a:r>
              <a:rPr sz="1400">
                <a:latin typeface="Aptos"/>
              </a:rPr>
              <a:t>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450" b="0" i="0">
                <a:solidFill>
                  <a:srgbClr val="1F2530"/>
                </a:solidFill>
                <a:latin typeface="Aptos"/>
              </a:defRPr>
            </a:pPr>
            <a:r>
              <a:rPr sz="1400">
                <a:latin typeface="Aptos"/>
              </a:rPr>
              <a:t>Natural-language questions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84248" y="2423160"/>
            <a:ext cx="1170432" cy="0"/>
          </a:xfrm>
          <a:prstGeom prst="line">
            <a:avLst/>
          </a:prstGeom>
          <a:ln w="29209">
            <a:solidFill>
              <a:srgbClr val="8492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114800" y="1874519"/>
            <a:ext cx="1097280" cy="1097280"/>
          </a:xfrm>
          <a:prstGeom prst="ellipse">
            <a:avLst/>
          </a:prstGeom>
          <a:solidFill>
            <a:srgbClr val="1A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096512" y="2212848"/>
            <a:ext cx="1133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 Display"/>
              </a:defRPr>
            </a:pPr>
            <a:r>
              <a:rPr sz="1400">
                <a:latin typeface="Aptos"/>
              </a:rPr>
              <a:t>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10896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450" b="0" i="0">
                <a:solidFill>
                  <a:srgbClr val="1F2530"/>
                </a:solidFill>
                <a:latin typeface="Aptos"/>
              </a:defRPr>
            </a:pPr>
            <a:r>
              <a:rPr sz="1400">
                <a:latin typeface="Aptos"/>
              </a:rPr>
              <a:t>Hybrid semantic + keyword search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21808" y="2423160"/>
            <a:ext cx="1170432" cy="0"/>
          </a:xfrm>
          <a:prstGeom prst="line">
            <a:avLst/>
          </a:prstGeom>
          <a:ln w="29209">
            <a:solidFill>
              <a:srgbClr val="8492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452360" y="1874519"/>
            <a:ext cx="1097280" cy="1097280"/>
          </a:xfrm>
          <a:prstGeom prst="ellipse">
            <a:avLst/>
          </a:prstGeom>
          <a:solidFill>
            <a:srgbClr val="2D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434072" y="2212848"/>
            <a:ext cx="1133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 Display"/>
              </a:defRPr>
            </a:pPr>
            <a:r>
              <a:rPr sz="1400">
                <a:latin typeface="Aptos"/>
              </a:rPr>
              <a:t>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10896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450" b="0" i="0">
                <a:solidFill>
                  <a:srgbClr val="1F2530"/>
                </a:solidFill>
                <a:latin typeface="Aptos"/>
              </a:defRPr>
            </a:pPr>
            <a:r>
              <a:rPr sz="1400">
                <a:latin typeface="Aptos"/>
              </a:rPr>
              <a:t>Secure, contextual responses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77639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 b="1" i="0">
                <a:solidFill>
                  <a:srgbClr val="081226"/>
                </a:solidFill>
                <a:latin typeface="Aptos Display"/>
              </a:defRPr>
            </a:pPr>
            <a:r>
              <a:rPr sz="1400">
                <a:latin typeface="Aptos"/>
              </a:rPr>
              <a:t>Key capabilities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361688"/>
            <a:ext cx="1280160" cy="27432"/>
          </a:xfrm>
          <a:prstGeom prst="rect">
            <a:avLst/>
          </a:prstGeom>
          <a:solidFill>
            <a:srgbClr val="A01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436155" y="4617720"/>
            <a:ext cx="5477690" cy="8602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600"/>
              </a:spcAft>
              <a:defRPr>
                <a:latin typeface="Aptos"/>
              </a:defRPr>
            </a:pPr>
            <a:r>
              <a:rPr sz="1450" b="1">
                <a:solidFill>
                  <a:srgbClr val="2DC48D"/>
                </a:solidFill>
                <a:latin typeface="Aptos"/>
              </a:rPr>
              <a:t>✓  </a:t>
            </a:r>
            <a:r>
              <a:rPr sz="1450">
                <a:solidFill>
                  <a:srgbClr val="1F2530"/>
                </a:solidFill>
                <a:latin typeface="Aptos"/>
              </a:rPr>
              <a:t>AI-powered conversational search across enterprise knowledge</a:t>
            </a:r>
            <a:endParaRPr lang="en-US" sz="1450">
              <a:solidFill>
                <a:srgbClr val="1F2530"/>
              </a:solidFill>
              <a:latin typeface="Aptos"/>
            </a:endParaRPr>
          </a:p>
          <a:p>
            <a:pPr>
              <a:spcAft>
                <a:spcPts val="600"/>
              </a:spcAft>
              <a:defRPr>
                <a:latin typeface="Aptos"/>
              </a:defRPr>
            </a:pPr>
            <a:r>
              <a:rPr sz="1450" b="1">
                <a:solidFill>
                  <a:srgbClr val="2DC48D"/>
                </a:solidFill>
                <a:latin typeface="Aptos"/>
              </a:rPr>
              <a:t>✓  </a:t>
            </a:r>
            <a:r>
              <a:rPr sz="1450">
                <a:solidFill>
                  <a:srgbClr val="1F2530"/>
                </a:solidFill>
                <a:latin typeface="Aptos"/>
              </a:rPr>
              <a:t>Modular Hybrid RAG for high-accuracy responses</a:t>
            </a:r>
            <a:endParaRPr lang="en-US" sz="1450">
              <a:solidFill>
                <a:srgbClr val="1F2530"/>
              </a:solidFill>
              <a:latin typeface="Aptos"/>
            </a:endParaRPr>
          </a:p>
          <a:p>
            <a:pPr>
              <a:spcAft>
                <a:spcPts val="600"/>
              </a:spcAft>
              <a:defRPr>
                <a:latin typeface="Aptos"/>
              </a:defRPr>
            </a:pPr>
            <a:r>
              <a:rPr sz="1450" b="1">
                <a:solidFill>
                  <a:srgbClr val="2DC48D"/>
                </a:solidFill>
                <a:latin typeface="Aptos"/>
              </a:rPr>
              <a:t>✓  </a:t>
            </a:r>
            <a:r>
              <a:rPr sz="1450">
                <a:solidFill>
                  <a:srgbClr val="1F2530"/>
                </a:solidFill>
                <a:latin typeface="Aptos"/>
              </a:rPr>
              <a:t>Real-time retrieval from multiple document repositories</a:t>
            </a:r>
            <a:endParaRPr lang="en-US" sz="1450">
              <a:solidFill>
                <a:srgbClr val="1F2530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89320" y="4617720"/>
            <a:ext cx="4937760" cy="8602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600"/>
              </a:spcAft>
              <a:defRPr>
                <a:latin typeface="Aptos"/>
              </a:defRPr>
            </a:pPr>
            <a:r>
              <a:rPr sz="1450" b="1">
                <a:solidFill>
                  <a:srgbClr val="1AB7C3"/>
                </a:solidFill>
                <a:latin typeface="Aptos"/>
              </a:rPr>
              <a:t>✓  </a:t>
            </a:r>
            <a:r>
              <a:rPr sz="1450">
                <a:solidFill>
                  <a:srgbClr val="1F2530"/>
                </a:solidFill>
                <a:latin typeface="Aptos"/>
              </a:rPr>
              <a:t>Secure, permission-aware information access</a:t>
            </a:r>
            <a:endParaRPr lang="en-US" sz="1450">
              <a:solidFill>
                <a:srgbClr val="1F2530"/>
              </a:solidFill>
              <a:latin typeface="Aptos"/>
            </a:endParaRPr>
          </a:p>
          <a:p>
            <a:pPr>
              <a:spcAft>
                <a:spcPts val="600"/>
              </a:spcAft>
              <a:defRPr>
                <a:latin typeface="Aptos"/>
              </a:defRPr>
            </a:pPr>
            <a:r>
              <a:rPr sz="1450" b="1">
                <a:solidFill>
                  <a:srgbClr val="1AB7C3"/>
                </a:solidFill>
                <a:latin typeface="Aptos"/>
              </a:rPr>
              <a:t>✓  </a:t>
            </a:r>
            <a:r>
              <a:rPr sz="1450">
                <a:solidFill>
                  <a:srgbClr val="1F2530"/>
                </a:solidFill>
                <a:latin typeface="Aptos"/>
              </a:rPr>
              <a:t>Multi-language support for global organizations</a:t>
            </a:r>
            <a:endParaRPr lang="en-US" sz="1450">
              <a:solidFill>
                <a:srgbClr val="1F2530"/>
              </a:solidFill>
              <a:latin typeface="Aptos"/>
            </a:endParaRPr>
          </a:p>
          <a:p>
            <a:pPr>
              <a:spcAft>
                <a:spcPts val="600"/>
              </a:spcAft>
              <a:defRPr>
                <a:latin typeface="Aptos"/>
              </a:defRPr>
            </a:pPr>
            <a:r>
              <a:rPr sz="1450" b="1">
                <a:solidFill>
                  <a:srgbClr val="1AB7C3"/>
                </a:solidFill>
                <a:latin typeface="Aptos"/>
              </a:rPr>
              <a:t>✓  </a:t>
            </a:r>
            <a:r>
              <a:rPr sz="1450">
                <a:solidFill>
                  <a:srgbClr val="1F2530"/>
                </a:solidFill>
                <a:latin typeface="Aptos"/>
              </a:rPr>
              <a:t>Enterprise-grade scalability</a:t>
            </a:r>
            <a:endParaRPr lang="en-US" sz="1450">
              <a:solidFill>
                <a:srgbClr val="1F253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77183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0040" y="292608"/>
            <a:ext cx="3840480" cy="41148"/>
          </a:xfrm>
          <a:prstGeom prst="rect">
            <a:avLst/>
          </a:prstGeom>
          <a:solidFill>
            <a:srgbClr val="5D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251960" y="292608"/>
            <a:ext cx="1828800" cy="41148"/>
          </a:xfrm>
          <a:prstGeom prst="rect">
            <a:avLst/>
          </a:prstGeom>
          <a:solidFill>
            <a:srgbClr val="8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 i="0">
                <a:solidFill>
                  <a:srgbClr val="5D1144"/>
                </a:solidFill>
                <a:latin typeface="Aptos"/>
              </a:defRPr>
            </a:pPr>
            <a:r>
              <a:rPr sz="819" b="1">
                <a:solidFill>
                  <a:srgbClr val="5D1144"/>
                </a:solidFill>
                <a:latin typeface="Aptos"/>
              </a:rPr>
              <a:t>MANAGEMENT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 i="0">
                <a:solidFill>
                  <a:srgbClr val="081226"/>
                </a:solidFill>
                <a:latin typeface="Aptos Display"/>
              </a:defRPr>
            </a:pPr>
            <a:r>
              <a:rPr sz="2600" b="1">
                <a:solidFill>
                  <a:srgbClr val="081226"/>
                </a:solidFill>
                <a:latin typeface="Aptos Display"/>
              </a:rPr>
              <a:t>Business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12680" y="6464808"/>
            <a:ext cx="1600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0" i="0">
                <a:solidFill>
                  <a:srgbClr val="7D8591"/>
                </a:solidFill>
                <a:latin typeface="Aptos"/>
              </a:defRPr>
            </a:pPr>
            <a:r>
              <a:rPr lang="en-US" sz="1400">
                <a:latin typeface="Aptos"/>
              </a:rPr>
              <a:t>ATLAS  |  04</a:t>
            </a:r>
            <a:endParaRPr sz="1400"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287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1" i="0">
                <a:solidFill>
                  <a:srgbClr val="081226"/>
                </a:solidFill>
                <a:latin typeface="Aptos Display"/>
              </a:defRPr>
            </a:pPr>
            <a:r>
              <a:rPr sz="1400">
                <a:latin typeface="Aptos"/>
              </a:rPr>
              <a:t>ATLAS </a:t>
            </a:r>
            <a:r>
              <a:rPr lang="en-US" sz="1400">
                <a:latin typeface="Aptos"/>
              </a:rPr>
              <a:t>turns</a:t>
            </a:r>
            <a:r>
              <a:rPr sz="1400">
                <a:latin typeface="Aptos"/>
              </a:rPr>
              <a:t> enterprise knowledge into a faster operating model — reducing manual effort while improving confidence in </a:t>
            </a:r>
            <a:r>
              <a:rPr sz="1400" dirty="0">
                <a:latin typeface="Aptos"/>
              </a:rPr>
              <a:t>decisions.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48840"/>
            <a:ext cx="2468880" cy="27432"/>
          </a:xfrm>
          <a:prstGeom prst="rect">
            <a:avLst/>
          </a:prstGeom>
          <a:solidFill>
            <a:srgbClr val="5D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6583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 i="0">
                <a:solidFill>
                  <a:srgbClr val="5D1144"/>
                </a:solidFill>
                <a:latin typeface="Aptos Display"/>
              </a:defRPr>
            </a:pPr>
            <a:r>
              <a:rPr sz="1400"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99232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900" b="1" i="0">
                <a:solidFill>
                  <a:srgbClr val="081226"/>
                </a:solidFill>
                <a:latin typeface="Aptos Display"/>
              </a:defRPr>
            </a:pPr>
            <a:r>
              <a:rPr sz="1400">
                <a:latin typeface="Aptos"/>
              </a:rPr>
              <a:t>Immediate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30168"/>
            <a:ext cx="2459736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20" b="0" i="0">
                <a:solidFill>
                  <a:srgbClr val="1F2530"/>
                </a:solidFill>
                <a:latin typeface="Aptos"/>
              </a:defRPr>
            </a:pPr>
            <a:r>
              <a:rPr sz="1400">
                <a:latin typeface="Aptos"/>
              </a:rPr>
              <a:t>Employees get answers instantly instead of reviewing hundreds of pages of documentation.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286000"/>
            <a:ext cx="10972" cy="3566160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346704" y="2148840"/>
            <a:ext cx="2468880" cy="27432"/>
          </a:xfrm>
          <a:prstGeom prst="rect">
            <a:avLst/>
          </a:prstGeom>
          <a:solidFill>
            <a:srgbClr val="A01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346704" y="2441448"/>
            <a:ext cx="6583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 i="0">
                <a:solidFill>
                  <a:srgbClr val="A01C65"/>
                </a:solidFill>
                <a:latin typeface="Aptos Display"/>
              </a:defRPr>
            </a:pPr>
            <a:r>
              <a:rPr sz="1400"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2999232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900" b="1" i="0">
                <a:solidFill>
                  <a:srgbClr val="081226"/>
                </a:solidFill>
                <a:latin typeface="Aptos Display"/>
              </a:defRPr>
            </a:pPr>
            <a:r>
              <a:rPr sz="1400">
                <a:latin typeface="Aptos"/>
              </a:rPr>
              <a:t>Cost savings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6704" y="3630168"/>
            <a:ext cx="2459736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20" b="0" i="0">
                <a:solidFill>
                  <a:srgbClr val="1F2530"/>
                </a:solidFill>
                <a:latin typeface="Aptos"/>
              </a:defRPr>
            </a:pPr>
            <a:r>
              <a:rPr sz="1400">
                <a:latin typeface="Aptos"/>
              </a:rPr>
              <a:t>Automation lowers operational costs for compliance, audit support and employee assistance.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52744" y="2286000"/>
            <a:ext cx="10972" cy="3566160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099048" y="2148840"/>
            <a:ext cx="2468880" cy="27432"/>
          </a:xfrm>
          <a:prstGeom prst="rect">
            <a:avLst/>
          </a:prstGeom>
          <a:solidFill>
            <a:srgbClr val="1A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099048" y="2441448"/>
            <a:ext cx="6583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 i="0">
                <a:solidFill>
                  <a:srgbClr val="1AB7C3"/>
                </a:solidFill>
                <a:latin typeface="Aptos Display"/>
              </a:defRPr>
            </a:pPr>
            <a:r>
              <a:rPr sz="1400"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8" y="2999232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900" b="1" i="0">
                <a:solidFill>
                  <a:srgbClr val="081226"/>
                </a:solidFill>
                <a:latin typeface="Aptos Display"/>
              </a:defRPr>
            </a:pPr>
            <a:r>
              <a:rPr sz="1400">
                <a:latin typeface="Aptos"/>
              </a:rPr>
              <a:t>Time savings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3630168"/>
            <a:ext cx="2459736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20" b="0" i="0">
                <a:solidFill>
                  <a:srgbClr val="1F2530"/>
                </a:solidFill>
                <a:latin typeface="Aptos"/>
              </a:defRPr>
            </a:pPr>
            <a:r>
              <a:rPr sz="1400">
                <a:latin typeface="Aptos"/>
              </a:rPr>
              <a:t>Teams spend less time searching and more time on value-added work.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05088" y="2286000"/>
            <a:ext cx="10972" cy="3566160"/>
          </a:xfrm>
          <a:prstGeom prst="rect">
            <a:avLst/>
          </a:prstGeom>
          <a:solidFill>
            <a:srgbClr val="D2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8851392" y="2148840"/>
            <a:ext cx="2468880" cy="27432"/>
          </a:xfrm>
          <a:prstGeom prst="rect">
            <a:avLst/>
          </a:prstGeom>
          <a:solidFill>
            <a:srgbClr val="2D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8851392" y="2441448"/>
            <a:ext cx="6583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 i="0">
                <a:solidFill>
                  <a:srgbClr val="2DC48D"/>
                </a:solidFill>
                <a:latin typeface="Aptos Display"/>
              </a:defRPr>
            </a:pPr>
            <a:r>
              <a:rPr sz="1400"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1392" y="2999232"/>
            <a:ext cx="2514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900" b="1" i="0">
                <a:solidFill>
                  <a:srgbClr val="081226"/>
                </a:solidFill>
                <a:latin typeface="Aptos Display"/>
              </a:defRPr>
            </a:pPr>
            <a:r>
              <a:rPr sz="1400">
                <a:latin typeface="Aptos"/>
              </a:rPr>
              <a:t>AI-powered </a:t>
            </a:r>
            <a:r>
              <a:rPr lang="en-US" sz="1400">
                <a:latin typeface="Aptos"/>
              </a:rPr>
              <a:t>response</a:t>
            </a:r>
            <a:endParaRPr sz="1400"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51392" y="3630168"/>
            <a:ext cx="2459736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20" b="0" i="0">
                <a:solidFill>
                  <a:srgbClr val="1F2530"/>
                </a:solidFill>
                <a:latin typeface="Aptos"/>
              </a:defRPr>
            </a:pPr>
            <a:r>
              <a:rPr sz="1400">
                <a:latin typeface="Aptos"/>
              </a:rPr>
              <a:t>The platform understands intent, retrieves relevant knowledge and generates contextual answers.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053328"/>
            <a:ext cx="10332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 i="0">
                <a:solidFill>
                  <a:srgbClr val="5D1144"/>
                </a:solidFill>
                <a:latin typeface="Aptos"/>
              </a:defRPr>
            </a:pPr>
            <a:r>
              <a:rPr sz="1400">
                <a:latin typeface="Aptos"/>
              </a:rPr>
              <a:t>Net effect: faster response cycles, lower search burden and better-informed </a:t>
            </a:r>
            <a:r>
              <a:rPr lang="en-US" sz="1400">
                <a:latin typeface="Aptos"/>
              </a:rPr>
              <a:t>decisions</a:t>
            </a:r>
            <a:r>
              <a:rPr sz="1400">
                <a:latin typeface="Aptos"/>
              </a:rPr>
              <a:t> across departments.</a:t>
            </a:r>
          </a:p>
        </p:txBody>
      </p:sp>
    </p:spTree>
    <p:extLst>
      <p:ext uri="{BB962C8B-B14F-4D97-AF65-F5344CB8AC3E}">
        <p14:creationId xmlns:p14="http://schemas.microsoft.com/office/powerpoint/2010/main" val="528806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36576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 i="0">
                <a:solidFill>
                  <a:srgbClr val="5D1144"/>
                </a:solidFill>
                <a:latin typeface="Aptos"/>
              </a:defRPr>
            </a:pPr>
            <a:r>
              <a:rPr sz="819" b="1">
                <a:solidFill>
                  <a:srgbClr val="5D1144"/>
                </a:solidFill>
                <a:latin typeface="Aptos"/>
              </a:rPr>
              <a:t>WHO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 i="0">
                <a:solidFill>
                  <a:srgbClr val="081226"/>
                </a:solidFill>
                <a:latin typeface="Aptos Display"/>
              </a:defRPr>
            </a:pPr>
            <a:r>
              <a:rPr sz="2600" b="1">
                <a:solidFill>
                  <a:srgbClr val="081226"/>
                </a:solidFill>
                <a:latin typeface="Aptos Display"/>
              </a:rPr>
              <a:t>User Personas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12680" y="6464808"/>
            <a:ext cx="1600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0" i="0">
                <a:solidFill>
                  <a:srgbClr val="7D8591"/>
                </a:solidFill>
                <a:latin typeface="Aptos"/>
              </a:defRPr>
            </a:pPr>
            <a:r>
              <a:rPr lang="en-US" sz="1400">
                <a:latin typeface="Aptos"/>
              </a:rPr>
              <a:t>ATLAS  |  05</a:t>
            </a:r>
            <a:endParaRPr sz="1400"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1325880" cy="310896"/>
          </a:xfrm>
          <a:prstGeom prst="rect">
            <a:avLst/>
          </a:prstGeom>
          <a:solidFill>
            <a:srgbClr val="5D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rPr lang="en-US" sz="1400">
                <a:latin typeface="Aptos"/>
              </a:rPr>
              <a:t>PERSONA 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85800" y="1700784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500" b="1">
                <a:solidFill>
                  <a:srgbClr val="081226"/>
                </a:solidFill>
                <a:latin typeface="Aptos Display"/>
              </a:defRPr>
            </a:pPr>
            <a:r>
              <a:rPr lang="en-US" sz="1400">
                <a:latin typeface="Aptos"/>
              </a:rPr>
              <a:t>General Employees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04088" y="2157984"/>
            <a:ext cx="4709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50" b="0">
                <a:solidFill>
                  <a:srgbClr val="1F2530"/>
                </a:solidFill>
                <a:latin typeface="Aptos"/>
              </a:defRPr>
            </a:pPr>
            <a:r>
              <a:rPr lang="en-US" sz="1400">
                <a:latin typeface="Aptos"/>
              </a:rPr>
              <a:t>Quick access to policies, procedures, compliance guidance, HR policies and product documentation.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907792"/>
            <a:ext cx="4983480" cy="110953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500"/>
              </a:spcAft>
              <a:defRPr>
                <a:latin typeface="Aptos"/>
              </a:defRPr>
            </a:pPr>
            <a:r>
              <a:rPr lang="en-US" sz="1460" b="1">
                <a:solidFill>
                  <a:srgbClr val="2DC48D"/>
                </a:solidFill>
                <a:latin typeface="Aptos"/>
              </a:rPr>
              <a:t>✓  </a:t>
            </a:r>
            <a:r>
              <a:rPr lang="en-US" sz="1460">
                <a:solidFill>
                  <a:srgbClr val="1F2530"/>
                </a:solidFill>
                <a:latin typeface="Aptos"/>
              </a:rPr>
              <a:t>Search with natural-language questions</a:t>
            </a:r>
          </a:p>
          <a:p>
            <a:pPr>
              <a:spcAft>
                <a:spcPts val="500"/>
              </a:spcAft>
              <a:defRPr>
                <a:latin typeface="Aptos"/>
              </a:defRPr>
            </a:pPr>
            <a:r>
              <a:rPr lang="en-US" sz="1460" b="1">
                <a:solidFill>
                  <a:srgbClr val="2DC48D"/>
                </a:solidFill>
                <a:latin typeface="Aptos"/>
              </a:rPr>
              <a:t>✓  </a:t>
            </a:r>
            <a:r>
              <a:rPr lang="en-US" sz="1460">
                <a:solidFill>
                  <a:srgbClr val="1F2530"/>
                </a:solidFill>
                <a:latin typeface="Aptos"/>
              </a:rPr>
              <a:t>Filter by time, source and language</a:t>
            </a:r>
          </a:p>
          <a:p>
            <a:pPr>
              <a:spcAft>
                <a:spcPts val="500"/>
              </a:spcAft>
              <a:defRPr>
                <a:latin typeface="Aptos"/>
              </a:defRPr>
            </a:pPr>
            <a:r>
              <a:rPr lang="en-US" sz="1460" b="1">
                <a:solidFill>
                  <a:srgbClr val="2DC48D"/>
                </a:solidFill>
                <a:latin typeface="Aptos"/>
              </a:rPr>
              <a:t>✓  </a:t>
            </a:r>
            <a:r>
              <a:rPr lang="en-US" sz="1460">
                <a:solidFill>
                  <a:srgbClr val="1F2530"/>
                </a:solidFill>
                <a:latin typeface="Aptos"/>
              </a:rPr>
              <a:t>Review cited summaries with confidence cues</a:t>
            </a:r>
          </a:p>
          <a:p>
            <a:pPr>
              <a:spcAft>
                <a:spcPts val="500"/>
              </a:spcAft>
              <a:defRPr>
                <a:latin typeface="Aptos"/>
              </a:defRPr>
            </a:pPr>
            <a:r>
              <a:rPr lang="en-US" sz="1460" b="1">
                <a:solidFill>
                  <a:srgbClr val="2DC48D"/>
                </a:solidFill>
                <a:latin typeface="Aptos"/>
              </a:rPr>
              <a:t>✓  </a:t>
            </a:r>
            <a:r>
              <a:rPr lang="en-US" sz="1460">
                <a:solidFill>
                  <a:srgbClr val="1F2530"/>
                </a:solidFill>
                <a:latin typeface="Aptos"/>
              </a:rPr>
              <a:t>Save key documents and share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892040"/>
            <a:ext cx="4800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>
                <a:solidFill>
                  <a:srgbClr val="5D1144"/>
                </a:solidFill>
                <a:latin typeface="Aptos"/>
              </a:defRPr>
            </a:pPr>
            <a:r>
              <a:rPr lang="en-US" sz="1400">
                <a:latin typeface="Aptos"/>
              </a:rPr>
              <a:t>Outcome: faster self-service for day-to-day knowledge needs</a:t>
            </a:r>
            <a:r>
              <a:rPr sz="1400">
                <a:latin typeface="Aptos"/>
              </a:rPr>
              <a:t>.</a:t>
            </a:r>
            <a:endParaRPr lang="en-US" sz="1400">
              <a:latin typeface="Aptos"/>
            </a:endParaRPr>
          </a:p>
        </p:txBody>
      </p:sp>
      <p:sp>
        <p:nvSpPr>
          <p:cNvPr id="13" name="Rectangle 12"/>
          <p:cNvSpPr>
            <a:spLocks/>
          </p:cNvSpPr>
          <p:nvPr/>
        </p:nvSpPr>
        <p:spPr>
          <a:xfrm>
            <a:off x="6446520" y="1234440"/>
            <a:ext cx="1325880" cy="310896"/>
          </a:xfrm>
          <a:prstGeom prst="rect">
            <a:avLst/>
          </a:prstGeom>
          <a:solidFill>
            <a:srgbClr val="A01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rPr lang="en-US" sz="1400">
                <a:latin typeface="Aptos"/>
              </a:rPr>
              <a:t>PERSONA 2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6446520" y="1700784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500" b="1">
                <a:solidFill>
                  <a:srgbClr val="081226"/>
                </a:solidFill>
                <a:latin typeface="Aptos Display"/>
              </a:defRPr>
            </a:pPr>
            <a:r>
              <a:rPr lang="en-US" sz="1400">
                <a:latin typeface="Aptos"/>
              </a:rPr>
              <a:t>Compliance &amp; Audit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157984"/>
            <a:ext cx="464515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50" b="0">
                <a:solidFill>
                  <a:srgbClr val="1F2530"/>
                </a:solidFill>
                <a:latin typeface="Aptos"/>
              </a:defRPr>
            </a:pPr>
            <a:r>
              <a:rPr lang="en-US" sz="1400">
                <a:latin typeface="Aptos"/>
              </a:rPr>
              <a:t>Detailed access to regulatory documents, policy versions, audit evidence and historical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907792"/>
            <a:ext cx="4892040" cy="110953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500"/>
              </a:spcAft>
              <a:defRPr>
                <a:latin typeface="Aptos"/>
              </a:defRPr>
            </a:pPr>
            <a:r>
              <a:rPr lang="en-US" sz="1460" b="1">
                <a:solidFill>
                  <a:srgbClr val="1AB7C3"/>
                </a:solidFill>
                <a:latin typeface="Aptos"/>
              </a:rPr>
              <a:t>✓  </a:t>
            </a:r>
            <a:r>
              <a:rPr lang="en-US" sz="1460">
                <a:solidFill>
                  <a:srgbClr val="1F2530"/>
                </a:solidFill>
                <a:latin typeface="Aptos"/>
              </a:rPr>
              <a:t>Monitor indexed documents, queries and usage</a:t>
            </a:r>
          </a:p>
          <a:p>
            <a:pPr>
              <a:spcAft>
                <a:spcPts val="500"/>
              </a:spcAft>
              <a:defRPr>
                <a:latin typeface="Aptos"/>
              </a:defRPr>
            </a:pPr>
            <a:r>
              <a:rPr lang="en-US" sz="1460" b="1">
                <a:solidFill>
                  <a:srgbClr val="1AB7C3"/>
                </a:solidFill>
                <a:latin typeface="Aptos"/>
              </a:rPr>
              <a:t>✓  </a:t>
            </a:r>
            <a:r>
              <a:rPr lang="en-US" sz="1460">
                <a:solidFill>
                  <a:srgbClr val="1F2530"/>
                </a:solidFill>
                <a:latin typeface="Aptos"/>
              </a:rPr>
              <a:t>Identify knowledge gaps and recommended fixes</a:t>
            </a:r>
          </a:p>
          <a:p>
            <a:pPr>
              <a:spcAft>
                <a:spcPts val="500"/>
              </a:spcAft>
              <a:defRPr>
                <a:latin typeface="Aptos"/>
              </a:defRPr>
            </a:pPr>
            <a:r>
              <a:rPr lang="en-US" sz="1460" b="1">
                <a:solidFill>
                  <a:srgbClr val="1AB7C3"/>
                </a:solidFill>
                <a:latin typeface="Aptos"/>
              </a:rPr>
              <a:t>✓  </a:t>
            </a:r>
            <a:r>
              <a:rPr lang="en-US" sz="1460">
                <a:solidFill>
                  <a:srgbClr val="1F2530"/>
                </a:solidFill>
                <a:latin typeface="Aptos"/>
              </a:rPr>
              <a:t>Analyze trends, confidence and coverage by topic</a:t>
            </a:r>
          </a:p>
          <a:p>
            <a:pPr>
              <a:spcAft>
                <a:spcPts val="500"/>
              </a:spcAft>
              <a:defRPr>
                <a:latin typeface="Aptos"/>
              </a:defRPr>
            </a:pPr>
            <a:r>
              <a:rPr lang="en-US" sz="1460" b="1">
                <a:solidFill>
                  <a:srgbClr val="1AB7C3"/>
                </a:solidFill>
                <a:latin typeface="Aptos"/>
              </a:rPr>
              <a:t>✓  </a:t>
            </a:r>
            <a:r>
              <a:rPr lang="en-US" sz="1460">
                <a:solidFill>
                  <a:srgbClr val="1F2530"/>
                </a:solidFill>
                <a:latin typeface="Aptos"/>
              </a:rPr>
              <a:t>Manage Confluence, Jira and SharePoint sync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4892040"/>
            <a:ext cx="4709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>
                <a:solidFill>
                  <a:srgbClr val="5D1144"/>
                </a:solidFill>
                <a:latin typeface="Aptos"/>
              </a:defRPr>
            </a:pPr>
            <a:r>
              <a:rPr lang="en-US" sz="1400">
                <a:latin typeface="Aptos"/>
              </a:rPr>
              <a:t>Outcome: stronger audit readiness and control visibility.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89320"/>
            <a:ext cx="98755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620" b="1">
                <a:solidFill>
                  <a:srgbClr val="5D1144"/>
                </a:solidFill>
                <a:latin typeface="Aptos"/>
              </a:defRPr>
            </a:pPr>
            <a:r>
              <a:rPr sz="1400">
                <a:latin typeface="Aptos"/>
              </a:rPr>
              <a:t>Shared need: one trusted source for accurate, contextual enterprise knowledge.</a:t>
            </a:r>
            <a:endParaRPr lang="en-US" sz="140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80230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0040" y="292608"/>
            <a:ext cx="3840480" cy="41148"/>
          </a:xfrm>
          <a:prstGeom prst="rect">
            <a:avLst/>
          </a:prstGeom>
          <a:solidFill>
            <a:srgbClr val="5D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251960" y="292608"/>
            <a:ext cx="1828800" cy="41148"/>
          </a:xfrm>
          <a:prstGeom prst="rect">
            <a:avLst/>
          </a:prstGeom>
          <a:solidFill>
            <a:srgbClr val="8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 i="0">
                <a:solidFill>
                  <a:srgbClr val="5D1144"/>
                </a:solidFill>
                <a:latin typeface="Aptos"/>
              </a:defRPr>
            </a:pPr>
            <a:r>
              <a:rPr sz="819" b="1">
                <a:solidFill>
                  <a:srgbClr val="5D1144"/>
                </a:solidFill>
                <a:latin typeface="Aptos"/>
              </a:rPr>
              <a:t>BUILT FOR LARGE ENTERPRISES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 i="0">
                <a:solidFill>
                  <a:srgbClr val="081226"/>
                </a:solidFill>
                <a:latin typeface="Aptos Display"/>
              </a:defRPr>
            </a:pPr>
            <a:r>
              <a:rPr sz="2600" b="1">
                <a:solidFill>
                  <a:srgbClr val="081226"/>
                </a:solidFill>
                <a:latin typeface="Aptos Display"/>
              </a:rPr>
              <a:t>Enterprise Scalability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12680" y="6464808"/>
            <a:ext cx="1600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0" i="0">
                <a:solidFill>
                  <a:srgbClr val="7D8591"/>
                </a:solidFill>
                <a:latin typeface="Aptos"/>
              </a:defRPr>
            </a:pPr>
            <a:r>
              <a:rPr lang="en-US" sz="1400">
                <a:latin typeface="Aptos"/>
              </a:rPr>
              <a:t>ATLAS  |  06</a:t>
            </a:r>
            <a:endParaRPr sz="1400"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 b="1" i="0">
                <a:solidFill>
                  <a:srgbClr val="081226"/>
                </a:solidFill>
                <a:latin typeface="Aptos Display"/>
              </a:defRPr>
            </a:pPr>
            <a:r>
              <a:rPr lang="en-US" sz="1400">
                <a:latin typeface="Aptos"/>
              </a:rPr>
              <a:t>ATLAS is designed to support enterprise-scale deployments across global financial institutions.</a:t>
            </a:r>
            <a:endParaRPr sz="1400"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901952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4300" b="1" i="0">
                <a:solidFill>
                  <a:srgbClr val="5D1144"/>
                </a:solidFill>
                <a:latin typeface="Aptos Display"/>
              </a:defRPr>
            </a:pPr>
            <a:r>
              <a:rPr sz="1400">
                <a:latin typeface="Aptos"/>
              </a:rPr>
              <a:t>50,000+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0604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0" i="0">
                <a:solidFill>
                  <a:srgbClr val="1F2530"/>
                </a:solidFill>
                <a:latin typeface="Aptos"/>
              </a:defRPr>
            </a:pPr>
            <a:r>
              <a:rPr sz="1400">
                <a:latin typeface="Aptos"/>
              </a:rPr>
              <a:t>employees simultaneously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901952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4300" b="1" i="0">
                <a:solidFill>
                  <a:srgbClr val="1AB7C3"/>
                </a:solidFill>
                <a:latin typeface="Aptos Display"/>
              </a:defRPr>
            </a:pPr>
            <a:r>
              <a:rPr sz="1400">
                <a:latin typeface="Aptos"/>
              </a:rPr>
              <a:t>Millions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60604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0" i="0">
                <a:solidFill>
                  <a:srgbClr val="1F2530"/>
                </a:solidFill>
                <a:latin typeface="Aptos"/>
              </a:defRPr>
            </a:pPr>
            <a:r>
              <a:rPr sz="1400">
                <a:latin typeface="Aptos"/>
              </a:rPr>
              <a:t>of enterprise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901952"/>
            <a:ext cx="33375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900" b="1" i="0">
                <a:solidFill>
                  <a:srgbClr val="2DC48D"/>
                </a:solidFill>
                <a:latin typeface="Aptos Display"/>
              </a:defRPr>
            </a:pPr>
            <a:r>
              <a:rPr sz="1400">
                <a:latin typeface="Aptos"/>
              </a:rPr>
              <a:t>High-volume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260604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0" i="0">
                <a:solidFill>
                  <a:srgbClr val="1F2530"/>
                </a:solidFill>
                <a:latin typeface="Aptos"/>
              </a:defRPr>
            </a:pPr>
            <a:r>
              <a:rPr sz="1400">
                <a:latin typeface="Aptos"/>
              </a:rPr>
              <a:t>concurrent AI queries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63240"/>
            <a:ext cx="2286000" cy="27432"/>
          </a:xfrm>
          <a:prstGeom prst="rect">
            <a:avLst/>
          </a:prstGeom>
          <a:solidFill>
            <a:srgbClr val="5D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389120" y="3063240"/>
            <a:ext cx="2286000" cy="27432"/>
          </a:xfrm>
          <a:prstGeom prst="rect">
            <a:avLst/>
          </a:prstGeom>
          <a:solidFill>
            <a:srgbClr val="1A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909560" y="3063240"/>
            <a:ext cx="2286000" cy="27432"/>
          </a:xfrm>
          <a:prstGeom prst="rect">
            <a:avLst/>
          </a:prstGeom>
          <a:solidFill>
            <a:srgbClr val="2D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85800" y="3749039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950" b="1" i="0">
                <a:solidFill>
                  <a:srgbClr val="081226"/>
                </a:solidFill>
                <a:latin typeface="Aptos Display"/>
              </a:defRPr>
            </a:pPr>
            <a:r>
              <a:rPr sz="1400">
                <a:latin typeface="Aptos"/>
              </a:rPr>
              <a:t>Scalability requirements supported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51960"/>
            <a:ext cx="4800600" cy="115262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500"/>
              </a:spcAft>
              <a:defRPr>
                <a:latin typeface="Aptos"/>
              </a:defRPr>
            </a:pPr>
            <a:r>
              <a:rPr sz="1500" b="1">
                <a:solidFill>
                  <a:srgbClr val="5D1144"/>
                </a:solidFill>
                <a:latin typeface="Aptos"/>
              </a:rPr>
              <a:t>✓  </a:t>
            </a:r>
            <a:r>
              <a:rPr sz="1500">
                <a:solidFill>
                  <a:srgbClr val="1F2530"/>
                </a:solidFill>
                <a:latin typeface="Aptos"/>
              </a:rPr>
              <a:t>Multiple business units</a:t>
            </a:r>
            <a:endParaRPr lang="en-US" sz="1500">
              <a:solidFill>
                <a:srgbClr val="1F2530"/>
              </a:solidFill>
              <a:latin typeface="Aptos"/>
            </a:endParaRPr>
          </a:p>
          <a:p>
            <a:pPr>
              <a:spcAft>
                <a:spcPts val="500"/>
              </a:spcAft>
              <a:defRPr>
                <a:latin typeface="Aptos"/>
              </a:defRPr>
            </a:pPr>
            <a:r>
              <a:rPr sz="1500" b="1">
                <a:solidFill>
                  <a:srgbClr val="5D1144"/>
                </a:solidFill>
                <a:latin typeface="Aptos"/>
              </a:rPr>
              <a:t>✓  </a:t>
            </a:r>
            <a:r>
              <a:rPr sz="1500">
                <a:solidFill>
                  <a:srgbClr val="1F2530"/>
                </a:solidFill>
                <a:latin typeface="Aptos"/>
              </a:rPr>
              <a:t>Continuous knowledge updates</a:t>
            </a:r>
            <a:endParaRPr lang="en-US" sz="1500">
              <a:solidFill>
                <a:srgbClr val="1F2530"/>
              </a:solidFill>
              <a:latin typeface="Aptos"/>
            </a:endParaRPr>
          </a:p>
          <a:p>
            <a:pPr>
              <a:spcAft>
                <a:spcPts val="500"/>
              </a:spcAft>
              <a:defRPr>
                <a:latin typeface="Aptos"/>
              </a:defRPr>
            </a:pPr>
            <a:r>
              <a:rPr sz="1500" b="1">
                <a:solidFill>
                  <a:srgbClr val="5D1144"/>
                </a:solidFill>
                <a:latin typeface="Aptos"/>
              </a:rPr>
              <a:t>✓  </a:t>
            </a:r>
            <a:r>
              <a:rPr sz="1500">
                <a:solidFill>
                  <a:srgbClr val="1F2530"/>
                </a:solidFill>
                <a:latin typeface="Aptos"/>
              </a:rPr>
              <a:t>High availability and reliability</a:t>
            </a:r>
            <a:endParaRPr lang="en-US" sz="1500">
              <a:solidFill>
                <a:srgbClr val="1F2530"/>
              </a:solidFill>
              <a:latin typeface="Aptos"/>
            </a:endParaRPr>
          </a:p>
          <a:p>
            <a:pPr>
              <a:spcAft>
                <a:spcPts val="500"/>
              </a:spcAft>
              <a:defRPr>
                <a:latin typeface="Aptos"/>
              </a:defRPr>
            </a:pPr>
            <a:r>
              <a:rPr sz="1500" b="1">
                <a:solidFill>
                  <a:srgbClr val="5D1144"/>
                </a:solidFill>
                <a:latin typeface="Aptos"/>
              </a:rPr>
              <a:t>✓  </a:t>
            </a:r>
            <a:r>
              <a:rPr sz="1500">
                <a:solidFill>
                  <a:srgbClr val="1F2530"/>
                </a:solidFill>
                <a:latin typeface="Aptos"/>
              </a:rPr>
              <a:t>Low-latency responses during peak workloads</a:t>
            </a:r>
            <a:endParaRPr lang="en-US" sz="1500">
              <a:solidFill>
                <a:srgbClr val="1F2530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0" y="3703320"/>
            <a:ext cx="4434840" cy="1691640"/>
          </a:xfrm>
          <a:prstGeom prst="rect">
            <a:avLst/>
          </a:prstGeom>
          <a:solidFill>
            <a:srgbClr val="0D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629400" y="391363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 i="0">
                <a:solidFill>
                  <a:srgbClr val="1AB7C3"/>
                </a:solidFill>
                <a:latin typeface="Aptos"/>
              </a:defRPr>
            </a:pPr>
            <a:r>
              <a:rPr sz="1400">
                <a:latin typeface="Aptos"/>
              </a:rPr>
              <a:t>Operating promise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297680"/>
            <a:ext cx="384048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Aptos"/>
              </a:defRPr>
            </a:pPr>
            <a:r>
              <a:rPr sz="1400">
                <a:latin typeface="Aptos"/>
              </a:rPr>
              <a:t>Distributed </a:t>
            </a:r>
            <a:r>
              <a:rPr lang="en-US" sz="1400">
                <a:latin typeface="Aptos"/>
              </a:rPr>
              <a:t>services keep</a:t>
            </a:r>
            <a:r>
              <a:rPr sz="1400">
                <a:latin typeface="Aptos"/>
              </a:rPr>
              <a:t> the platform available, reliable and responsive as usage scales across the enterprise.</a:t>
            </a:r>
            <a:endParaRPr lang="en-US" sz="140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72518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0040" y="292608"/>
            <a:ext cx="3840480" cy="41148"/>
          </a:xfrm>
          <a:prstGeom prst="rect">
            <a:avLst/>
          </a:prstGeom>
          <a:solidFill>
            <a:srgbClr val="5D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251960" y="292608"/>
            <a:ext cx="1828800" cy="41148"/>
          </a:xfrm>
          <a:prstGeom prst="rect">
            <a:avLst/>
          </a:prstGeom>
          <a:solidFill>
            <a:srgbClr val="8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 i="0">
                <a:solidFill>
                  <a:srgbClr val="5D1144"/>
                </a:solidFill>
                <a:latin typeface="Aptos"/>
              </a:defRPr>
            </a:pPr>
            <a:r>
              <a:rPr sz="819" b="1">
                <a:solidFill>
                  <a:srgbClr val="5D1144"/>
                </a:solidFill>
                <a:latin typeface="Aptos"/>
              </a:rPr>
              <a:t>ARCHITECTURE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 i="0">
                <a:solidFill>
                  <a:srgbClr val="081226"/>
                </a:solidFill>
                <a:latin typeface="Aptos Display"/>
              </a:defRPr>
            </a:pPr>
            <a:r>
              <a:rPr sz="2400" b="1">
                <a:solidFill>
                  <a:srgbClr val="081226"/>
                </a:solidFill>
                <a:latin typeface="Aptos Display"/>
              </a:rPr>
              <a:t>Solution Architecture – Modular Hybrid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12680" y="6464808"/>
            <a:ext cx="1600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0" i="0">
                <a:solidFill>
                  <a:srgbClr val="7D8591"/>
                </a:solidFill>
                <a:latin typeface="Aptos"/>
              </a:defRPr>
            </a:pPr>
            <a:r>
              <a:rPr lang="en-US" sz="1400">
                <a:latin typeface="Aptos"/>
              </a:rPr>
              <a:t>ATLAS  |  07</a:t>
            </a:r>
            <a:endParaRPr sz="1400"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1442" y="1133856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 b="1" i="0">
                <a:solidFill>
                  <a:srgbClr val="081226"/>
                </a:solidFill>
                <a:latin typeface="Aptos Display"/>
              </a:defRPr>
            </a:pPr>
            <a:r>
              <a:rPr sz="1400">
                <a:latin typeface="Aptos"/>
              </a:rPr>
              <a:t>Combines semantic search, keyword search, vector databases and large language models to deliver accurate, scalable and maintainable answers.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2011680"/>
            <a:ext cx="1691640" cy="1481328"/>
          </a:xfrm>
          <a:prstGeom prst="rect">
            <a:avLst/>
          </a:prstGeom>
          <a:solidFill>
            <a:srgbClr val="F5F7F9"/>
          </a:solidFill>
          <a:ln w="15240">
            <a:solidFill>
              <a:srgbClr val="5D1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38912" y="2011680"/>
            <a:ext cx="1691640" cy="118872"/>
          </a:xfrm>
          <a:prstGeom prst="rect">
            <a:avLst/>
          </a:prstGeom>
          <a:solidFill>
            <a:srgbClr val="5D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0352" y="2267712"/>
            <a:ext cx="1508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 i="0">
                <a:solidFill>
                  <a:srgbClr val="1F2530"/>
                </a:solidFill>
                <a:latin typeface="Aptos"/>
              </a:defRPr>
            </a:pPr>
            <a:r>
              <a:rPr lang="en-US" sz="1400">
                <a:latin typeface="Aptos"/>
              </a:rPr>
              <a:t>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633472"/>
            <a:ext cx="150876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1F2530"/>
                </a:solidFill>
                <a:latin typeface="Aptos"/>
              </a:defRPr>
            </a:pPr>
            <a:r>
              <a:rPr lang="en-US" sz="1400">
                <a:latin typeface="Aptos"/>
              </a:rPr>
              <a:t>User prompt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48840" y="2734056"/>
            <a:ext cx="109728" cy="0"/>
          </a:xfrm>
          <a:prstGeom prst="line">
            <a:avLst/>
          </a:prstGeom>
          <a:ln w="25400">
            <a:solidFill>
              <a:srgbClr val="8492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295144" y="2011680"/>
            <a:ext cx="1691640" cy="1481328"/>
          </a:xfrm>
          <a:prstGeom prst="rect">
            <a:avLst/>
          </a:prstGeom>
          <a:solidFill>
            <a:srgbClr val="F5F7F9"/>
          </a:solidFill>
          <a:ln w="15240">
            <a:solidFill>
              <a:srgbClr val="A01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295144" y="2011680"/>
            <a:ext cx="1691640" cy="118872"/>
          </a:xfrm>
          <a:prstGeom prst="rect">
            <a:avLst/>
          </a:prstGeom>
          <a:solidFill>
            <a:srgbClr val="A01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386584" y="2267712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 i="0">
                <a:solidFill>
                  <a:srgbClr val="081226"/>
                </a:solidFill>
                <a:latin typeface="Aptos Display"/>
              </a:defRPr>
            </a:pPr>
            <a:r>
              <a:rPr sz="1500" b="1">
                <a:latin typeface="Aptos"/>
              </a:rPr>
              <a:t>Understand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6584" y="2633472"/>
            <a:ext cx="150876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F2530"/>
                </a:solidFill>
                <a:latin typeface="Aptos"/>
              </a:defRPr>
            </a:pPr>
            <a:r>
              <a:rPr lang="en-US" sz="1400">
                <a:latin typeface="Aptos"/>
              </a:rPr>
              <a:t>Content +</a:t>
            </a:r>
          </a:p>
          <a:p>
            <a:pPr>
              <a:defRPr sz="1400">
                <a:solidFill>
                  <a:srgbClr val="1F2530"/>
                </a:solidFill>
                <a:latin typeface="Aptos"/>
              </a:defRPr>
            </a:pPr>
            <a:r>
              <a:rPr lang="en-US" sz="1400">
                <a:latin typeface="Aptos"/>
              </a:rPr>
              <a:t>metadata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05072" y="2734056"/>
            <a:ext cx="109728" cy="0"/>
          </a:xfrm>
          <a:prstGeom prst="line">
            <a:avLst/>
          </a:prstGeom>
          <a:ln w="25400">
            <a:solidFill>
              <a:srgbClr val="8492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151376" y="2011680"/>
            <a:ext cx="1691640" cy="1481328"/>
          </a:xfrm>
          <a:prstGeom prst="rect">
            <a:avLst/>
          </a:prstGeom>
          <a:solidFill>
            <a:srgbClr val="F5F7F9"/>
          </a:solidFill>
          <a:ln w="15240">
            <a:solidFill>
              <a:srgbClr val="1AB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151376" y="2011680"/>
            <a:ext cx="1691640" cy="118872"/>
          </a:xfrm>
          <a:prstGeom prst="rect">
            <a:avLst/>
          </a:prstGeom>
          <a:solidFill>
            <a:srgbClr val="1A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4242816" y="2267712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 i="0">
                <a:solidFill>
                  <a:srgbClr val="081226"/>
                </a:solidFill>
                <a:latin typeface="Aptos Display"/>
              </a:defRPr>
            </a:pPr>
            <a:r>
              <a:rPr sz="1500" b="1">
                <a:latin typeface="Aptos"/>
              </a:rPr>
              <a:t>Represent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2816" y="2633472"/>
            <a:ext cx="150876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F2530"/>
                </a:solidFill>
                <a:latin typeface="Aptos"/>
              </a:defRPr>
            </a:pPr>
            <a:r>
              <a:rPr lang="en-US" sz="1400">
                <a:latin typeface="Aptos"/>
              </a:rPr>
              <a:t>Vector DB +</a:t>
            </a:r>
          </a:p>
          <a:p>
            <a:pPr>
              <a:spcAft>
                <a:spcPts val="0"/>
              </a:spcAft>
              <a:defRPr sz="1400">
                <a:solidFill>
                  <a:srgbClr val="1F2530"/>
                </a:solidFill>
                <a:latin typeface="Aptos"/>
              </a:defRPr>
            </a:pPr>
            <a:r>
              <a:rPr lang="en-US" sz="1400">
                <a:latin typeface="Aptos"/>
              </a:rPr>
              <a:t>knowledge graph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61304" y="2734056"/>
            <a:ext cx="109728" cy="0"/>
          </a:xfrm>
          <a:prstGeom prst="line">
            <a:avLst/>
          </a:prstGeom>
          <a:ln w="25400">
            <a:solidFill>
              <a:srgbClr val="8492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007608" y="2011680"/>
            <a:ext cx="1691640" cy="1481328"/>
          </a:xfrm>
          <a:prstGeom prst="rect">
            <a:avLst/>
          </a:prstGeom>
          <a:solidFill>
            <a:srgbClr val="F5F7F9"/>
          </a:solidFill>
          <a:ln w="15240">
            <a:solidFill>
              <a:srgbClr val="008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007608" y="2011680"/>
            <a:ext cx="1691640" cy="118872"/>
          </a:xfrm>
          <a:prstGeom prst="rect">
            <a:avLst/>
          </a:prstGeom>
          <a:solidFill>
            <a:srgbClr val="008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099048" y="2267712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 i="0">
                <a:solidFill>
                  <a:srgbClr val="081226"/>
                </a:solidFill>
                <a:latin typeface="Aptos Display"/>
              </a:defRPr>
            </a:pPr>
            <a:r>
              <a:rPr sz="1500" b="1">
                <a:latin typeface="Aptos"/>
              </a:rPr>
              <a:t>Retrieve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2633472"/>
            <a:ext cx="150876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F2530"/>
                </a:solidFill>
                <a:latin typeface="Aptos"/>
              </a:defRPr>
            </a:pPr>
            <a:r>
              <a:rPr lang="en-US" sz="1400">
                <a:latin typeface="Aptos"/>
              </a:rPr>
              <a:t>Hybrid</a:t>
            </a:r>
          </a:p>
          <a:p>
            <a:pPr>
              <a:spcAft>
                <a:spcPts val="0"/>
              </a:spcAft>
              <a:defRPr sz="1400">
                <a:solidFill>
                  <a:srgbClr val="1F2530"/>
                </a:solidFill>
                <a:latin typeface="Aptos"/>
              </a:defRPr>
            </a:pPr>
            <a:r>
              <a:rPr lang="en-US" sz="1400">
                <a:latin typeface="Aptos"/>
              </a:rPr>
              <a:t>retrieval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17536" y="2734056"/>
            <a:ext cx="109728" cy="0"/>
          </a:xfrm>
          <a:prstGeom prst="line">
            <a:avLst/>
          </a:prstGeom>
          <a:ln w="25400">
            <a:solidFill>
              <a:srgbClr val="8492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878354" y="2011680"/>
            <a:ext cx="1691640" cy="1481328"/>
          </a:xfrm>
          <a:prstGeom prst="rect">
            <a:avLst/>
          </a:prstGeom>
          <a:solidFill>
            <a:srgbClr val="F5F7F9"/>
          </a:solidFill>
          <a:ln w="15240">
            <a:solidFill>
              <a:srgbClr val="2DC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863840" y="2011680"/>
            <a:ext cx="1691640" cy="118872"/>
          </a:xfrm>
          <a:prstGeom prst="rect">
            <a:avLst/>
          </a:prstGeom>
          <a:solidFill>
            <a:srgbClr val="2D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7955280" y="2267712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 i="0">
                <a:solidFill>
                  <a:srgbClr val="081226"/>
                </a:solidFill>
                <a:latin typeface="Aptos Display"/>
              </a:defRPr>
            </a:pPr>
            <a:r>
              <a:rPr sz="1500" b="1">
                <a:latin typeface="Aptos"/>
              </a:rPr>
              <a:t>Generate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2633472"/>
            <a:ext cx="150876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1F2530"/>
                </a:solidFill>
                <a:latin typeface="Aptos"/>
              </a:defRPr>
            </a:pPr>
            <a:r>
              <a:rPr lang="en-US" sz="1400">
                <a:latin typeface="Aptos"/>
              </a:rPr>
              <a:t>Summarize</a:t>
            </a:r>
          </a:p>
          <a:p>
            <a:pPr>
              <a:defRPr sz="1400">
                <a:solidFill>
                  <a:srgbClr val="1F2530"/>
                </a:solidFill>
                <a:latin typeface="Aptos"/>
              </a:defRPr>
            </a:pPr>
            <a:r>
              <a:rPr lang="en-US" sz="1400">
                <a:latin typeface="Aptos"/>
              </a:rPr>
              <a:t>response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573768" y="2734056"/>
            <a:ext cx="109728" cy="0"/>
          </a:xfrm>
          <a:prstGeom prst="line">
            <a:avLst/>
          </a:prstGeom>
          <a:ln w="25400">
            <a:solidFill>
              <a:srgbClr val="8492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720072" y="2011680"/>
            <a:ext cx="1691640" cy="1481328"/>
          </a:xfrm>
          <a:prstGeom prst="rect">
            <a:avLst/>
          </a:prstGeom>
          <a:solidFill>
            <a:srgbClr val="F5F7F9"/>
          </a:solidFill>
          <a:ln w="15240">
            <a:solidFill>
              <a:srgbClr val="F5A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9720072" y="2011680"/>
            <a:ext cx="1691640" cy="118872"/>
          </a:xfrm>
          <a:prstGeom prst="rect">
            <a:avLst/>
          </a:prstGeom>
          <a:solidFill>
            <a:srgbClr val="F5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9811512" y="2267712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 i="0">
                <a:solidFill>
                  <a:srgbClr val="081226"/>
                </a:solidFill>
                <a:latin typeface="Aptos Display"/>
              </a:defRPr>
            </a:pPr>
            <a:r>
              <a:rPr sz="1500" b="1">
                <a:latin typeface="Aptos"/>
              </a:rPr>
              <a:t>Govern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11512" y="2633472"/>
            <a:ext cx="150876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F2530"/>
                </a:solidFill>
                <a:latin typeface="Aptos"/>
              </a:defRPr>
            </a:pPr>
            <a:r>
              <a:rPr lang="en-US" sz="1400">
                <a:latin typeface="Aptos"/>
              </a:rPr>
              <a:t>Validation +</a:t>
            </a:r>
          </a:p>
          <a:p>
            <a:pPr>
              <a:spcAft>
                <a:spcPts val="0"/>
              </a:spcAft>
              <a:defRPr sz="1400">
                <a:solidFill>
                  <a:srgbClr val="1F2530"/>
                </a:solidFill>
                <a:latin typeface="Aptos"/>
              </a:defRPr>
            </a:pPr>
            <a:r>
              <a:rPr lang="en-US" sz="1400">
                <a:latin typeface="Aptos"/>
              </a:rPr>
              <a:t>RBAC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3977639"/>
            <a:ext cx="10149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720" b="1" i="0">
                <a:solidFill>
                  <a:srgbClr val="5D1144"/>
                </a:solidFill>
                <a:latin typeface="Aptos"/>
              </a:defRPr>
            </a:pPr>
            <a:r>
              <a:rPr sz="1400">
                <a:latin typeface="Aptos"/>
              </a:rPr>
              <a:t>Security and quality controls run </a:t>
            </a:r>
            <a:r>
              <a:rPr lang="en-US" sz="1400">
                <a:latin typeface="Aptos"/>
              </a:rPr>
              <a:t>across </a:t>
            </a:r>
            <a:r>
              <a:rPr sz="1400">
                <a:latin typeface="Aptos"/>
              </a:rPr>
              <a:t>the architecture — from </a:t>
            </a:r>
            <a:r>
              <a:rPr lang="en-US" sz="1400">
                <a:latin typeface="Aptos"/>
              </a:rPr>
              <a:t>source</a:t>
            </a:r>
            <a:r>
              <a:rPr sz="1400">
                <a:latin typeface="Aptos"/>
              </a:rPr>
              <a:t> access through response validation.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" y="4892040"/>
            <a:ext cx="2103120" cy="27432"/>
          </a:xfrm>
          <a:prstGeom prst="rect">
            <a:avLst/>
          </a:prstGeom>
          <a:solidFill>
            <a:srgbClr val="5D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841248" y="5166360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 i="0">
                <a:solidFill>
                  <a:srgbClr val="081226"/>
                </a:solidFill>
                <a:latin typeface="Aptos Display"/>
              </a:defRPr>
            </a:pPr>
            <a:r>
              <a:rPr sz="1400">
                <a:latin typeface="Aptos"/>
              </a:rPr>
              <a:t>Accuracy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5504688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0" i="0">
                <a:solidFill>
                  <a:srgbClr val="1F2530"/>
                </a:solidFill>
                <a:latin typeface="Aptos"/>
              </a:defRPr>
            </a:pPr>
            <a:r>
              <a:rPr sz="1400">
                <a:latin typeface="Aptos"/>
              </a:rPr>
              <a:t>Hybrid retrieval improves answer relevance.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98848" y="4892040"/>
            <a:ext cx="2103120" cy="27432"/>
          </a:xfrm>
          <a:prstGeom prst="rect">
            <a:avLst/>
          </a:prstGeom>
          <a:solidFill>
            <a:srgbClr val="1A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4498848" y="5166360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 i="0">
                <a:solidFill>
                  <a:srgbClr val="081226"/>
                </a:solidFill>
                <a:latin typeface="Aptos Display"/>
              </a:defRPr>
            </a:pPr>
            <a:r>
              <a:rPr sz="1400">
                <a:latin typeface="Aptos"/>
              </a:rPr>
              <a:t>Scalability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98848" y="5504688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0" i="0">
                <a:solidFill>
                  <a:srgbClr val="1F2530"/>
                </a:solidFill>
                <a:latin typeface="Aptos"/>
              </a:defRPr>
            </a:pPr>
            <a:r>
              <a:rPr sz="1400">
                <a:latin typeface="Aptos"/>
              </a:rPr>
              <a:t>Modular services evolve independently.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56448" y="4892040"/>
            <a:ext cx="2103120" cy="27432"/>
          </a:xfrm>
          <a:prstGeom prst="rect">
            <a:avLst/>
          </a:prstGeom>
          <a:solidFill>
            <a:srgbClr val="2D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8156448" y="5166360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 i="0">
                <a:solidFill>
                  <a:srgbClr val="081226"/>
                </a:solidFill>
                <a:latin typeface="Aptos Display"/>
              </a:defRPr>
            </a:pPr>
            <a:r>
              <a:rPr sz="1400">
                <a:latin typeface="Aptos"/>
              </a:rPr>
              <a:t>Maintainability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56448" y="5504688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0" i="0">
                <a:solidFill>
                  <a:srgbClr val="1F2530"/>
                </a:solidFill>
                <a:latin typeface="Aptos"/>
              </a:defRPr>
            </a:pPr>
            <a:r>
              <a:rPr sz="1400">
                <a:latin typeface="Aptos"/>
              </a:rPr>
              <a:t>Components can be extended for future needs.</a:t>
            </a:r>
          </a:p>
        </p:txBody>
      </p:sp>
    </p:spTree>
    <p:extLst>
      <p:ext uri="{BB962C8B-B14F-4D97-AF65-F5344CB8AC3E}">
        <p14:creationId xmlns:p14="http://schemas.microsoft.com/office/powerpoint/2010/main" val="3431357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144" y="9144"/>
            <a:ext cx="12173712" cy="182880"/>
          </a:xfrm>
          <a:prstGeom prst="rect">
            <a:avLst/>
          </a:prstGeom>
          <a:solidFill>
            <a:srgbClr val="5D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144" y="6583680"/>
            <a:ext cx="12173712" cy="182880"/>
          </a:xfrm>
          <a:prstGeom prst="rect">
            <a:avLst/>
          </a:prstGeom>
          <a:solidFill>
            <a:srgbClr val="5D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ptos Display"/>
              </a:defRPr>
            </a:pPr>
            <a:r>
              <a:rPr sz="1400">
                <a:latin typeface="Aptos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0" i="0">
                <a:solidFill>
                  <a:srgbClr val="C7D3E0"/>
                </a:solidFill>
                <a:latin typeface="Aptos"/>
              </a:defRPr>
            </a:pPr>
            <a:r>
              <a:rPr sz="1400">
                <a:latin typeface="Aptos"/>
              </a:rPr>
              <a:t>End-to-end view of retrieval, governance and response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6464808"/>
            <a:ext cx="1600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0" i="0">
                <a:solidFill>
                  <a:srgbClr val="A8B2BF"/>
                </a:solidFill>
                <a:latin typeface="Aptos"/>
              </a:defRPr>
            </a:pPr>
            <a:r>
              <a:rPr lang="en-US" sz="1400">
                <a:latin typeface="Aptos"/>
              </a:rPr>
              <a:t>ATLAS  |  08</a:t>
            </a:r>
            <a:endParaRPr sz="1400">
              <a:latin typeface="Apto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DDC277-B29D-EC3F-EB00-58C586E52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1161288"/>
            <a:ext cx="12173712" cy="569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00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9D51D9-A0E9-5D2C-0472-CD4F72D8D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F579F-E3C5-465C-95C3-6C22688D1543}" type="datetime1">
              <a:t>7/24/2026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B51121-D203-05CD-3846-A942A93C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04966-3420-20C8-2DC7-C9395017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00084F-FA54-080E-D9BF-6E4B63E75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814" y="195942"/>
            <a:ext cx="9815286" cy="644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334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E28AE5-4401-DD0D-79E3-C7C291460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DEAF-E867-4B2A-8FB7-0A49CD96C4B5}" type="datetime1">
              <a:t>7/24/2026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5C8AD1-041D-360D-6511-DAF08791D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BB34F-B517-1F05-6D40-63C6A979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E691D-20EA-BB8E-4EFB-1B3A65686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842" y="239485"/>
            <a:ext cx="9938658" cy="639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98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B86328-B23C-DA02-2A03-9161D54FA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C846E-96B8-4EC0-8F1F-1E444010C1FE}" type="datetime1">
              <a:t>7/24/2026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30AC91-28E3-69E3-DFD3-9FA1F67EC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17D82-4E24-BA30-4237-B96BB92D2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11</a:t>
            </a:fld>
            <a:endParaRPr lang="en-US" dirty="0"/>
          </a:p>
        </p:txBody>
      </p:sp>
      <p:pic>
        <p:nvPicPr>
          <p:cNvPr id="6" name="Final_Clip">
            <a:hlinkClick r:id="" action="ppaction://media"/>
            <a:extLst>
              <a:ext uri="{FF2B5EF4-FFF2-40B4-BE49-F238E27FC236}">
                <a16:creationId xmlns:a16="http://schemas.microsoft.com/office/drawing/2014/main" id="{64FC8684-46F9-FCEE-DFC8-7487CEEC149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132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rallelogram 2"/>
          <p:cNvSpPr/>
          <p:nvPr/>
        </p:nvSpPr>
        <p:spPr>
          <a:xfrm>
            <a:off x="7498079" y="9144"/>
            <a:ext cx="4684777" cy="1874519"/>
          </a:xfrm>
          <a:prstGeom prst="parallelogram">
            <a:avLst/>
          </a:prstGeom>
          <a:solidFill>
            <a:srgbClr val="5D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4" name="Parallelogram 3"/>
          <p:cNvSpPr/>
          <p:nvPr/>
        </p:nvSpPr>
        <p:spPr>
          <a:xfrm>
            <a:off x="8412480" y="5257800"/>
            <a:ext cx="3770376" cy="1417320"/>
          </a:xfrm>
          <a:prstGeom prst="parallelogram">
            <a:avLst/>
          </a:prstGeom>
          <a:solidFill>
            <a:srgbClr val="1A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100" b="1" i="0">
                <a:solidFill>
                  <a:srgbClr val="FFFFFF"/>
                </a:solidFill>
                <a:latin typeface="Aptos Display"/>
              </a:defRPr>
            </a:pPr>
            <a:r>
              <a:rPr sz="1400">
                <a:latin typeface="Aptos"/>
              </a:rPr>
              <a:t>Permission-Based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197864"/>
            <a:ext cx="2103120" cy="27432"/>
          </a:xfrm>
          <a:prstGeom prst="rect">
            <a:avLst/>
          </a:prstGeom>
          <a:solidFill>
            <a:srgbClr val="1A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76072" y="1572768"/>
            <a:ext cx="566928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50" b="0" i="0">
                <a:solidFill>
                  <a:srgbClr val="E7EDF4"/>
                </a:solidFill>
                <a:latin typeface="Aptos"/>
              </a:defRPr>
            </a:pPr>
            <a:r>
              <a:rPr lang="en-US" sz="1400">
                <a:latin typeface="Aptos"/>
              </a:rPr>
              <a:t>Security is a critical requirement for banking organizations. ATLAS enforces strict Role-Based Access Control so users only access the documents and information they are authorized to view.</a:t>
            </a:r>
            <a:endParaRPr sz="1400"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3232" y="3154680"/>
            <a:ext cx="320040" cy="320040"/>
          </a:xfrm>
          <a:prstGeom prst="rect">
            <a:avLst/>
          </a:prstGeom>
          <a:solidFill>
            <a:srgbClr val="5D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rPr sz="1400"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3639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750" b="1" i="0">
                <a:solidFill>
                  <a:srgbClr val="FFFFFF"/>
                </a:solidFill>
                <a:latin typeface="Aptos Display"/>
              </a:defRPr>
            </a:pPr>
            <a:r>
              <a:rPr sz="1400">
                <a:latin typeface="Aptos"/>
              </a:rPr>
              <a:t>Authenticate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65576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0" i="0">
                <a:solidFill>
                  <a:srgbClr val="C4D0DE"/>
                </a:solidFill>
                <a:latin typeface="Aptos"/>
              </a:defRPr>
            </a:pPr>
            <a:r>
              <a:rPr sz="1400">
                <a:latin typeface="Aptos"/>
              </a:rPr>
              <a:t>Confirm the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3154680"/>
            <a:ext cx="320040" cy="320040"/>
          </a:xfrm>
          <a:prstGeom prst="rect">
            <a:avLst/>
          </a:prstGeom>
          <a:solidFill>
            <a:srgbClr val="1A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rPr sz="1400"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13639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750" b="1" i="0">
                <a:solidFill>
                  <a:srgbClr val="FFFFFF"/>
                </a:solidFill>
                <a:latin typeface="Aptos Display"/>
              </a:defRPr>
            </a:pPr>
            <a:r>
              <a:rPr sz="1400">
                <a:latin typeface="Aptos"/>
              </a:rPr>
              <a:t>Authorize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465576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0" i="0">
                <a:solidFill>
                  <a:srgbClr val="C4D0DE"/>
                </a:solidFill>
                <a:latin typeface="Aptos"/>
              </a:defRPr>
            </a:pPr>
            <a:r>
              <a:rPr sz="1400">
                <a:latin typeface="Aptos"/>
              </a:rPr>
              <a:t>Match role and department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1" y="3154680"/>
            <a:ext cx="320040" cy="320040"/>
          </a:xfrm>
          <a:prstGeom prst="rect">
            <a:avLst/>
          </a:prstGeom>
          <a:solidFill>
            <a:srgbClr val="2D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rPr sz="1400"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313639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750" b="1" i="0">
                <a:solidFill>
                  <a:srgbClr val="FFFFFF"/>
                </a:solidFill>
                <a:latin typeface="Aptos Display"/>
              </a:defRPr>
            </a:pPr>
            <a:r>
              <a:rPr sz="1400">
                <a:latin typeface="Aptos"/>
              </a:rPr>
              <a:t>Protect &amp;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3465576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0" i="0">
                <a:solidFill>
                  <a:srgbClr val="C4D0DE"/>
                </a:solidFill>
                <a:latin typeface="Aptos"/>
              </a:defRPr>
            </a:pPr>
            <a:r>
              <a:rPr sz="1400">
                <a:latin typeface="Aptos"/>
              </a:rPr>
              <a:t>Mask information and log activity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407408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700" b="1" i="0">
                <a:solidFill>
                  <a:srgbClr val="1AB7C3"/>
                </a:solidFill>
                <a:latin typeface="Aptos"/>
              </a:defRPr>
            </a:pPr>
            <a:r>
              <a:rPr sz="1400">
                <a:latin typeface="Aptos"/>
              </a:rPr>
              <a:t>Core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6464808"/>
            <a:ext cx="1600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0" i="0">
                <a:solidFill>
                  <a:srgbClr val="A8B2BF"/>
                </a:solidFill>
                <a:latin typeface="Aptos"/>
              </a:defRPr>
            </a:pPr>
            <a:r>
              <a:rPr lang="en-US" sz="1400">
                <a:latin typeface="Aptos"/>
              </a:rPr>
              <a:t>ATLAS  |  09</a:t>
            </a:r>
            <a:endParaRPr sz="1400"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9808" y="4681728"/>
            <a:ext cx="3200400" cy="7132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100"/>
              </a:spcAft>
              <a:defRPr>
                <a:latin typeface="Aptos"/>
              </a:defRPr>
            </a:pPr>
            <a:r>
              <a:rPr sz="1400" b="1">
                <a:solidFill>
                  <a:srgbClr val="2DC48D"/>
                </a:solidFill>
                <a:latin typeface="Aptos"/>
              </a:rPr>
              <a:t>✓  </a:t>
            </a:r>
            <a:r>
              <a:rPr sz="1400">
                <a:solidFill>
                  <a:srgbClr val="FFFFFF"/>
                </a:solidFill>
                <a:latin typeface="Aptos"/>
              </a:rPr>
              <a:t>User authentication</a:t>
            </a:r>
            <a:endParaRPr lang="en-US" sz="1400">
              <a:solidFill>
                <a:srgbClr val="FFFFFF"/>
              </a:solidFill>
              <a:latin typeface="Aptos"/>
            </a:endParaRPr>
          </a:p>
          <a:p>
            <a:pPr>
              <a:spcAft>
                <a:spcPts val="100"/>
              </a:spcAft>
              <a:defRPr>
                <a:latin typeface="Aptos"/>
              </a:defRPr>
            </a:pPr>
            <a:r>
              <a:rPr sz="1400" b="1">
                <a:solidFill>
                  <a:srgbClr val="2DC48D"/>
                </a:solidFill>
                <a:latin typeface="Aptos"/>
              </a:rPr>
              <a:t>✓  </a:t>
            </a:r>
            <a:r>
              <a:rPr sz="1400">
                <a:solidFill>
                  <a:srgbClr val="FFFFFF"/>
                </a:solidFill>
                <a:latin typeface="Aptos"/>
              </a:rPr>
              <a:t>Department permissions</a:t>
            </a:r>
            <a:endParaRPr lang="en-US" sz="1400">
              <a:solidFill>
                <a:srgbClr val="FFFFFF"/>
              </a:solidFill>
              <a:latin typeface="Aptos"/>
            </a:endParaRPr>
          </a:p>
          <a:p>
            <a:pPr>
              <a:spcAft>
                <a:spcPts val="100"/>
              </a:spcAft>
              <a:defRPr>
                <a:latin typeface="Aptos"/>
              </a:defRPr>
            </a:pPr>
            <a:r>
              <a:rPr sz="1400" b="1">
                <a:solidFill>
                  <a:srgbClr val="2DC48D"/>
                </a:solidFill>
                <a:latin typeface="Aptos"/>
              </a:rPr>
              <a:t>✓  </a:t>
            </a:r>
            <a:r>
              <a:rPr sz="1400">
                <a:solidFill>
                  <a:srgbClr val="FFFFFF"/>
                </a:solidFill>
                <a:latin typeface="Aptos"/>
              </a:rPr>
              <a:t>Role-based access</a:t>
            </a:r>
            <a:endParaRPr lang="en-US" sz="140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60520" y="4681728"/>
            <a:ext cx="3291840" cy="7132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spcAft>
                <a:spcPts val="100"/>
              </a:spcAft>
              <a:defRPr>
                <a:latin typeface="Aptos"/>
              </a:defRPr>
            </a:pPr>
            <a:r>
              <a:rPr sz="1400" b="1">
                <a:solidFill>
                  <a:srgbClr val="2DC48D"/>
                </a:solidFill>
                <a:latin typeface="Aptos"/>
              </a:rPr>
              <a:t>✓  </a:t>
            </a:r>
            <a:r>
              <a:rPr sz="1400">
                <a:solidFill>
                  <a:srgbClr val="FFFFFF"/>
                </a:solidFill>
                <a:latin typeface="Aptos"/>
              </a:rPr>
              <a:t>Information masking</a:t>
            </a:r>
            <a:endParaRPr lang="en-US" sz="1400">
              <a:solidFill>
                <a:srgbClr val="FFFFFF"/>
              </a:solidFill>
              <a:latin typeface="Aptos"/>
            </a:endParaRPr>
          </a:p>
          <a:p>
            <a:pPr>
              <a:spcAft>
                <a:spcPts val="100"/>
              </a:spcAft>
              <a:defRPr>
                <a:latin typeface="Aptos"/>
              </a:defRPr>
            </a:pPr>
            <a:r>
              <a:rPr sz="1400" b="1">
                <a:solidFill>
                  <a:srgbClr val="2DC48D"/>
                </a:solidFill>
                <a:latin typeface="Aptos"/>
              </a:rPr>
              <a:t>✓  </a:t>
            </a:r>
            <a:r>
              <a:rPr sz="1400">
                <a:solidFill>
                  <a:srgbClr val="FFFFFF"/>
                </a:solidFill>
                <a:latin typeface="Aptos"/>
              </a:rPr>
              <a:t>Audit logs</a:t>
            </a:r>
            <a:endParaRPr lang="en-US" sz="1400">
              <a:solidFill>
                <a:srgbClr val="FFFFFF"/>
              </a:solidFill>
              <a:latin typeface="Aptos"/>
            </a:endParaRPr>
          </a:p>
          <a:p>
            <a:pPr>
              <a:spcAft>
                <a:spcPts val="100"/>
              </a:spcAft>
              <a:defRPr>
                <a:latin typeface="Aptos"/>
              </a:defRPr>
            </a:pPr>
            <a:r>
              <a:rPr sz="1400" b="1">
                <a:solidFill>
                  <a:srgbClr val="2DC48D"/>
                </a:solidFill>
                <a:latin typeface="Aptos"/>
              </a:rPr>
              <a:t>✓  </a:t>
            </a:r>
            <a:r>
              <a:rPr sz="1400">
                <a:solidFill>
                  <a:srgbClr val="FFFFFF"/>
                </a:solidFill>
                <a:latin typeface="Aptos"/>
              </a:rPr>
              <a:t>Secure AI responses</a:t>
            </a:r>
            <a:endParaRPr lang="en-US" sz="140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9808" y="5650992"/>
            <a:ext cx="73152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550" b="1">
                <a:solidFill>
                  <a:srgbClr val="FFFFFF"/>
                </a:solidFill>
                <a:latin typeface="Aptos"/>
              </a:defRPr>
            </a:pPr>
            <a:r>
              <a:rPr lang="en-US" sz="1400">
                <a:latin typeface="Aptos"/>
              </a:rPr>
              <a:t>Outcome: confidential information stays protected while users get trusted answers.</a:t>
            </a:r>
          </a:p>
        </p:txBody>
      </p:sp>
    </p:spTree>
    <p:extLst>
      <p:ext uri="{BB962C8B-B14F-4D97-AF65-F5344CB8AC3E}">
        <p14:creationId xmlns:p14="http://schemas.microsoft.com/office/powerpoint/2010/main" val="14681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3860F5-F688-A535-637C-85C42A3A8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5D5EF-47CC-43E5-925C-67E5EAD32167}" type="datetime1">
              <a:t>7/24/2026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2A7657-8A97-1F53-8B7E-104217FD2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491F6-6E82-7728-4ECB-1348210E0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2DD2FD-3251-C0CC-6AF5-7717AAA63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71" y="210457"/>
            <a:ext cx="9067800" cy="604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9463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efa4170-0d19-0005-0004-bc88714345d2}" enabled="1" method="Standard" siteId="{66b449e4-a61c-4532-b538-3558df6c8d7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47</TotalTime>
  <Words>715</Words>
  <Application>Microsoft Office PowerPoint</Application>
  <PresentationFormat>Widescreen</PresentationFormat>
  <Paragraphs>97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Rukumpur</dc:creator>
  <cp:lastModifiedBy>Sachin Rukumpur</cp:lastModifiedBy>
  <cp:revision>183</cp:revision>
  <dcterms:created xsi:type="dcterms:W3CDTF">2026-07-23T22:54:54Z</dcterms:created>
  <dcterms:modified xsi:type="dcterms:W3CDTF">2026-07-24T09:26:33Z</dcterms:modified>
</cp:coreProperties>
</file>